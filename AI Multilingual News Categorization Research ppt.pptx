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57" r:id="rId3"/>
    <p:sldId id="258" r:id="rId4"/>
    <p:sldId id="259" r:id="rId5"/>
    <p:sldId id="260" r:id="rId6"/>
    <p:sldId id="261" r:id="rId7"/>
    <p:sldId id="288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BB7B6E-1768-4FED-9A4C-FA713C00D723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B8C867F-BAF4-487C-BAB9-4DF08321BD08}">
      <dgm:prSet phldrT="[Text]"/>
      <dgm:spPr/>
      <dgm:t>
        <a:bodyPr/>
        <a:lstStyle/>
        <a:p>
          <a:r>
            <a:rPr lang="en-IN" dirty="0"/>
            <a:t>News Article</a:t>
          </a:r>
        </a:p>
      </dgm:t>
    </dgm:pt>
    <dgm:pt modelId="{4ACC74E2-5A3D-4518-9F00-59E46673FCE1}" type="parTrans" cxnId="{2248FF71-243C-4CEC-A8E7-D80B9943FC17}">
      <dgm:prSet/>
      <dgm:spPr/>
      <dgm:t>
        <a:bodyPr/>
        <a:lstStyle/>
        <a:p>
          <a:endParaRPr lang="en-IN"/>
        </a:p>
      </dgm:t>
    </dgm:pt>
    <dgm:pt modelId="{2D79B441-30AB-494A-8E2C-137E87F44FAD}" type="sibTrans" cxnId="{2248FF71-243C-4CEC-A8E7-D80B9943FC17}">
      <dgm:prSet/>
      <dgm:spPr/>
      <dgm:t>
        <a:bodyPr/>
        <a:lstStyle/>
        <a:p>
          <a:endParaRPr lang="en-IN"/>
        </a:p>
      </dgm:t>
    </dgm:pt>
    <dgm:pt modelId="{A3AA7575-4174-4E6C-ACF9-AF2EC344FC91}">
      <dgm:prSet phldrT="[Text]"/>
      <dgm:spPr/>
      <dgm:t>
        <a:bodyPr/>
        <a:lstStyle/>
        <a:p>
          <a:r>
            <a:rPr lang="en-IN" dirty="0"/>
            <a:t>Language</a:t>
          </a:r>
          <a:br>
            <a:rPr lang="en-IN" dirty="0"/>
          </a:br>
          <a:r>
            <a:rPr lang="en-IN" dirty="0"/>
            <a:t>Detection</a:t>
          </a:r>
        </a:p>
      </dgm:t>
    </dgm:pt>
    <dgm:pt modelId="{08CF6382-ABA9-4F7D-8FD4-948537C2C98D}" type="parTrans" cxnId="{44F19119-E51E-4D7F-8151-CEAEF8C7747D}">
      <dgm:prSet/>
      <dgm:spPr/>
      <dgm:t>
        <a:bodyPr/>
        <a:lstStyle/>
        <a:p>
          <a:endParaRPr lang="en-IN"/>
        </a:p>
      </dgm:t>
    </dgm:pt>
    <dgm:pt modelId="{A29C6279-2FC0-46D1-831E-3A757AC12B2C}" type="sibTrans" cxnId="{44F19119-E51E-4D7F-8151-CEAEF8C7747D}">
      <dgm:prSet/>
      <dgm:spPr/>
      <dgm:t>
        <a:bodyPr/>
        <a:lstStyle/>
        <a:p>
          <a:endParaRPr lang="en-IN"/>
        </a:p>
      </dgm:t>
    </dgm:pt>
    <dgm:pt modelId="{A47C3EA2-E54E-44A5-87F1-E3FC715EFF22}">
      <dgm:prSet phldrT="[Text]"/>
      <dgm:spPr/>
      <dgm:t>
        <a:bodyPr/>
        <a:lstStyle/>
        <a:p>
          <a:r>
            <a:rPr lang="en-IN" dirty="0"/>
            <a:t>Language-Aware</a:t>
          </a:r>
          <a:br>
            <a:rPr lang="en-IN" dirty="0"/>
          </a:br>
          <a:r>
            <a:rPr lang="en-IN" dirty="0"/>
            <a:t>Preprocessing</a:t>
          </a:r>
        </a:p>
      </dgm:t>
    </dgm:pt>
    <dgm:pt modelId="{5735A53A-BA78-46B9-BFF3-953BA3950531}" type="parTrans" cxnId="{A837133C-DE45-425C-8810-BC9BECBF5D23}">
      <dgm:prSet/>
      <dgm:spPr/>
      <dgm:t>
        <a:bodyPr/>
        <a:lstStyle/>
        <a:p>
          <a:endParaRPr lang="en-IN"/>
        </a:p>
      </dgm:t>
    </dgm:pt>
    <dgm:pt modelId="{BE038354-F8FC-458C-84E6-78B685ABB009}" type="sibTrans" cxnId="{A837133C-DE45-425C-8810-BC9BECBF5D23}">
      <dgm:prSet/>
      <dgm:spPr/>
      <dgm:t>
        <a:bodyPr/>
        <a:lstStyle/>
        <a:p>
          <a:endParaRPr lang="en-IN"/>
        </a:p>
      </dgm:t>
    </dgm:pt>
    <dgm:pt modelId="{6F7C5C86-1AAC-44E5-A683-3C071F7764B6}">
      <dgm:prSet phldrT="[Text]"/>
      <dgm:spPr/>
      <dgm:t>
        <a:bodyPr/>
        <a:lstStyle/>
        <a:p>
          <a:r>
            <a:rPr lang="en-IN" dirty="0"/>
            <a:t>XLM-</a:t>
          </a:r>
          <a:r>
            <a:rPr lang="en-IN" dirty="0" err="1"/>
            <a:t>RoBERTa</a:t>
          </a:r>
          <a:br>
            <a:rPr lang="en-IN" dirty="0"/>
          </a:br>
          <a:r>
            <a:rPr lang="en-IN" dirty="0"/>
            <a:t>Tokenizer</a:t>
          </a:r>
        </a:p>
      </dgm:t>
    </dgm:pt>
    <dgm:pt modelId="{A6164677-5A8B-4670-9157-7811C8B53029}" type="parTrans" cxnId="{DB20FF1F-A6D3-4CE6-BCC5-9E0E77FDE788}">
      <dgm:prSet/>
      <dgm:spPr/>
      <dgm:t>
        <a:bodyPr/>
        <a:lstStyle/>
        <a:p>
          <a:endParaRPr lang="en-IN"/>
        </a:p>
      </dgm:t>
    </dgm:pt>
    <dgm:pt modelId="{03C1B99D-6616-4AA2-B65E-A1ECFAD5F3FF}" type="sibTrans" cxnId="{DB20FF1F-A6D3-4CE6-BCC5-9E0E77FDE788}">
      <dgm:prSet/>
      <dgm:spPr/>
      <dgm:t>
        <a:bodyPr/>
        <a:lstStyle/>
        <a:p>
          <a:endParaRPr lang="en-IN"/>
        </a:p>
      </dgm:t>
    </dgm:pt>
    <dgm:pt modelId="{43BDC9DB-86B9-4CCC-84B6-1C477FDE41B9}">
      <dgm:prSet phldrT="[Text]"/>
      <dgm:spPr/>
      <dgm:t>
        <a:bodyPr/>
        <a:lstStyle/>
        <a:p>
          <a:r>
            <a:rPr lang="en-IN"/>
            <a:t>Fine-tuned</a:t>
          </a:r>
          <a:br>
            <a:rPr lang="en-IN"/>
          </a:br>
          <a:r>
            <a:rPr lang="en-IN"/>
            <a:t>Classifier</a:t>
          </a:r>
          <a:endParaRPr lang="en-IN" dirty="0"/>
        </a:p>
      </dgm:t>
    </dgm:pt>
    <dgm:pt modelId="{9ADCEE31-7409-4755-AB9D-CEA68B718763}" type="parTrans" cxnId="{DE334ADD-80D5-4FDD-8D9B-1CC4DEDDDC33}">
      <dgm:prSet/>
      <dgm:spPr/>
      <dgm:t>
        <a:bodyPr/>
        <a:lstStyle/>
        <a:p>
          <a:endParaRPr lang="en-IN"/>
        </a:p>
      </dgm:t>
    </dgm:pt>
    <dgm:pt modelId="{3E8954BD-3CD0-4130-8072-6A14130041ED}" type="sibTrans" cxnId="{DE334ADD-80D5-4FDD-8D9B-1CC4DEDDDC33}">
      <dgm:prSet/>
      <dgm:spPr/>
      <dgm:t>
        <a:bodyPr/>
        <a:lstStyle/>
        <a:p>
          <a:endParaRPr lang="en-IN"/>
        </a:p>
      </dgm:t>
    </dgm:pt>
    <dgm:pt modelId="{CD95AB1B-BABA-4222-9334-850080A7ACAC}">
      <dgm:prSet phldrT="[Text]"/>
      <dgm:spPr/>
      <dgm:t>
        <a:bodyPr/>
        <a:lstStyle/>
        <a:p>
          <a:r>
            <a:rPr lang="en-IN" dirty="0"/>
            <a:t>Category +</a:t>
          </a:r>
          <a:br>
            <a:rPr lang="en-IN" dirty="0"/>
          </a:br>
          <a:r>
            <a:rPr lang="en-IN" dirty="0"/>
            <a:t>Confidence</a:t>
          </a:r>
        </a:p>
      </dgm:t>
    </dgm:pt>
    <dgm:pt modelId="{90CC3EB2-D66E-480B-8A35-B45064456AB9}" type="parTrans" cxnId="{05A13C61-D263-4D67-8E57-D5E2F057A317}">
      <dgm:prSet/>
      <dgm:spPr/>
      <dgm:t>
        <a:bodyPr/>
        <a:lstStyle/>
        <a:p>
          <a:endParaRPr lang="en-IN"/>
        </a:p>
      </dgm:t>
    </dgm:pt>
    <dgm:pt modelId="{A00D5BEA-F9F8-44DC-B164-2D05FFADE69E}" type="sibTrans" cxnId="{05A13C61-D263-4D67-8E57-D5E2F057A317}">
      <dgm:prSet/>
      <dgm:spPr/>
      <dgm:t>
        <a:bodyPr/>
        <a:lstStyle/>
        <a:p>
          <a:endParaRPr lang="en-IN"/>
        </a:p>
      </dgm:t>
    </dgm:pt>
    <dgm:pt modelId="{AE99F657-06C0-4821-904A-0177F1DB1511}">
      <dgm:prSet phldrT="[Text]"/>
      <dgm:spPr/>
      <dgm:t>
        <a:bodyPr/>
        <a:lstStyle/>
        <a:p>
          <a:r>
            <a:rPr lang="en-IN" dirty="0"/>
            <a:t>Confidence</a:t>
          </a:r>
          <a:br>
            <a:rPr lang="en-IN" dirty="0"/>
          </a:br>
          <a:r>
            <a:rPr lang="en-IN" dirty="0"/>
            <a:t>Threshold</a:t>
          </a:r>
        </a:p>
      </dgm:t>
    </dgm:pt>
    <dgm:pt modelId="{D3362A8A-9036-4519-8883-668A5AD022C5}" type="parTrans" cxnId="{91830151-740B-47AE-B4A2-F8C29FB2245C}">
      <dgm:prSet/>
      <dgm:spPr/>
      <dgm:t>
        <a:bodyPr/>
        <a:lstStyle/>
        <a:p>
          <a:endParaRPr lang="en-IN"/>
        </a:p>
      </dgm:t>
    </dgm:pt>
    <dgm:pt modelId="{27837A66-BA13-4DAF-801C-9D71FA40DA13}" type="sibTrans" cxnId="{91830151-740B-47AE-B4A2-F8C29FB2245C}">
      <dgm:prSet/>
      <dgm:spPr/>
      <dgm:t>
        <a:bodyPr/>
        <a:lstStyle/>
        <a:p>
          <a:endParaRPr lang="en-IN"/>
        </a:p>
      </dgm:t>
    </dgm:pt>
    <dgm:pt modelId="{28157D64-F4D6-4CAA-9811-786C84123AE9}">
      <dgm:prSet phldrT="[Text]"/>
      <dgm:spPr/>
      <dgm:t>
        <a:bodyPr/>
        <a:lstStyle/>
        <a:p>
          <a:r>
            <a:rPr lang="en-IN"/>
            <a:t>Accept / Review</a:t>
          </a:r>
          <a:endParaRPr lang="en-IN" dirty="0"/>
        </a:p>
      </dgm:t>
    </dgm:pt>
    <dgm:pt modelId="{B173BF33-B83C-44F4-B01C-81F89092A72C}" type="parTrans" cxnId="{9BF7D275-18FD-4364-A39A-AC45BBE3F991}">
      <dgm:prSet/>
      <dgm:spPr/>
      <dgm:t>
        <a:bodyPr/>
        <a:lstStyle/>
        <a:p>
          <a:endParaRPr lang="en-IN"/>
        </a:p>
      </dgm:t>
    </dgm:pt>
    <dgm:pt modelId="{550786FC-987F-40AD-BAF2-286A748246C8}" type="sibTrans" cxnId="{9BF7D275-18FD-4364-A39A-AC45BBE3F991}">
      <dgm:prSet/>
      <dgm:spPr/>
      <dgm:t>
        <a:bodyPr/>
        <a:lstStyle/>
        <a:p>
          <a:endParaRPr lang="en-IN"/>
        </a:p>
      </dgm:t>
    </dgm:pt>
    <dgm:pt modelId="{2C06F41D-799D-4308-86B4-E5A8BB9B6D85}" type="pres">
      <dgm:prSet presAssocID="{06BB7B6E-1768-4FED-9A4C-FA713C00D723}" presName="diagram" presStyleCnt="0">
        <dgm:presLayoutVars>
          <dgm:dir/>
          <dgm:resizeHandles val="exact"/>
        </dgm:presLayoutVars>
      </dgm:prSet>
      <dgm:spPr/>
    </dgm:pt>
    <dgm:pt modelId="{460A8FF3-AAD8-4B87-A00A-0726BDD3A179}" type="pres">
      <dgm:prSet presAssocID="{CB8C867F-BAF4-487C-BAB9-4DF08321BD08}" presName="node" presStyleLbl="node1" presStyleIdx="0" presStyleCnt="8">
        <dgm:presLayoutVars>
          <dgm:bulletEnabled val="1"/>
        </dgm:presLayoutVars>
      </dgm:prSet>
      <dgm:spPr/>
    </dgm:pt>
    <dgm:pt modelId="{B9996F81-4971-453C-80AE-3F4ACA7997F8}" type="pres">
      <dgm:prSet presAssocID="{2D79B441-30AB-494A-8E2C-137E87F44FAD}" presName="sibTrans" presStyleLbl="sibTrans2D1" presStyleIdx="0" presStyleCnt="7"/>
      <dgm:spPr/>
    </dgm:pt>
    <dgm:pt modelId="{A792B33C-352A-40EB-A6C9-044B1CFA8B05}" type="pres">
      <dgm:prSet presAssocID="{2D79B441-30AB-494A-8E2C-137E87F44FAD}" presName="connectorText" presStyleLbl="sibTrans2D1" presStyleIdx="0" presStyleCnt="7"/>
      <dgm:spPr/>
    </dgm:pt>
    <dgm:pt modelId="{75C456BD-E924-4705-8CD8-7DC2B38C52F7}" type="pres">
      <dgm:prSet presAssocID="{A3AA7575-4174-4E6C-ACF9-AF2EC344FC91}" presName="node" presStyleLbl="node1" presStyleIdx="1" presStyleCnt="8">
        <dgm:presLayoutVars>
          <dgm:bulletEnabled val="1"/>
        </dgm:presLayoutVars>
      </dgm:prSet>
      <dgm:spPr/>
    </dgm:pt>
    <dgm:pt modelId="{29A0644B-83BA-4518-92E6-C0EC0C6D47FA}" type="pres">
      <dgm:prSet presAssocID="{A29C6279-2FC0-46D1-831E-3A757AC12B2C}" presName="sibTrans" presStyleLbl="sibTrans2D1" presStyleIdx="1" presStyleCnt="7"/>
      <dgm:spPr/>
    </dgm:pt>
    <dgm:pt modelId="{9501B422-EB3A-47A0-B89C-CB71A3D0022D}" type="pres">
      <dgm:prSet presAssocID="{A29C6279-2FC0-46D1-831E-3A757AC12B2C}" presName="connectorText" presStyleLbl="sibTrans2D1" presStyleIdx="1" presStyleCnt="7"/>
      <dgm:spPr/>
    </dgm:pt>
    <dgm:pt modelId="{60DE973B-7F4E-4F17-8F0D-93E2A50CF989}" type="pres">
      <dgm:prSet presAssocID="{A47C3EA2-E54E-44A5-87F1-E3FC715EFF22}" presName="node" presStyleLbl="node1" presStyleIdx="2" presStyleCnt="8">
        <dgm:presLayoutVars>
          <dgm:bulletEnabled val="1"/>
        </dgm:presLayoutVars>
      </dgm:prSet>
      <dgm:spPr/>
    </dgm:pt>
    <dgm:pt modelId="{402A111F-D8E1-4C80-960E-4B52297F89F0}" type="pres">
      <dgm:prSet presAssocID="{BE038354-F8FC-458C-84E6-78B685ABB009}" presName="sibTrans" presStyleLbl="sibTrans2D1" presStyleIdx="2" presStyleCnt="7"/>
      <dgm:spPr/>
    </dgm:pt>
    <dgm:pt modelId="{620E0599-1CBB-42FD-BEE9-FE21BAF65D39}" type="pres">
      <dgm:prSet presAssocID="{BE038354-F8FC-458C-84E6-78B685ABB009}" presName="connectorText" presStyleLbl="sibTrans2D1" presStyleIdx="2" presStyleCnt="7"/>
      <dgm:spPr/>
    </dgm:pt>
    <dgm:pt modelId="{7BF1B297-DC94-4C9F-B5F0-129FD83FC01F}" type="pres">
      <dgm:prSet presAssocID="{6F7C5C86-1AAC-44E5-A683-3C071F7764B6}" presName="node" presStyleLbl="node1" presStyleIdx="3" presStyleCnt="8">
        <dgm:presLayoutVars>
          <dgm:bulletEnabled val="1"/>
        </dgm:presLayoutVars>
      </dgm:prSet>
      <dgm:spPr/>
    </dgm:pt>
    <dgm:pt modelId="{4B6BE2A4-F8C0-4087-9B38-1DB731D75410}" type="pres">
      <dgm:prSet presAssocID="{03C1B99D-6616-4AA2-B65E-A1ECFAD5F3FF}" presName="sibTrans" presStyleLbl="sibTrans2D1" presStyleIdx="3" presStyleCnt="7"/>
      <dgm:spPr/>
    </dgm:pt>
    <dgm:pt modelId="{F8971B86-81EB-4066-9F74-F37B699C168A}" type="pres">
      <dgm:prSet presAssocID="{03C1B99D-6616-4AA2-B65E-A1ECFAD5F3FF}" presName="connectorText" presStyleLbl="sibTrans2D1" presStyleIdx="3" presStyleCnt="7"/>
      <dgm:spPr/>
    </dgm:pt>
    <dgm:pt modelId="{F0C7013C-9E30-4BE5-AD53-49940C3285E0}" type="pres">
      <dgm:prSet presAssocID="{43BDC9DB-86B9-4CCC-84B6-1C477FDE41B9}" presName="node" presStyleLbl="node1" presStyleIdx="4" presStyleCnt="8">
        <dgm:presLayoutVars>
          <dgm:bulletEnabled val="1"/>
        </dgm:presLayoutVars>
      </dgm:prSet>
      <dgm:spPr/>
    </dgm:pt>
    <dgm:pt modelId="{38FD4802-D2C2-4809-BDB2-4B5B352B6A8E}" type="pres">
      <dgm:prSet presAssocID="{3E8954BD-3CD0-4130-8072-6A14130041ED}" presName="sibTrans" presStyleLbl="sibTrans2D1" presStyleIdx="4" presStyleCnt="7"/>
      <dgm:spPr/>
    </dgm:pt>
    <dgm:pt modelId="{187E0667-75CA-4FE9-9523-820C045B52E3}" type="pres">
      <dgm:prSet presAssocID="{3E8954BD-3CD0-4130-8072-6A14130041ED}" presName="connectorText" presStyleLbl="sibTrans2D1" presStyleIdx="4" presStyleCnt="7"/>
      <dgm:spPr/>
    </dgm:pt>
    <dgm:pt modelId="{4DEC8600-93C5-4298-9F81-B1D24BAA1733}" type="pres">
      <dgm:prSet presAssocID="{CD95AB1B-BABA-4222-9334-850080A7ACAC}" presName="node" presStyleLbl="node1" presStyleIdx="5" presStyleCnt="8">
        <dgm:presLayoutVars>
          <dgm:bulletEnabled val="1"/>
        </dgm:presLayoutVars>
      </dgm:prSet>
      <dgm:spPr/>
    </dgm:pt>
    <dgm:pt modelId="{AE0012EE-E797-469A-9FA3-ED72B13BB4C4}" type="pres">
      <dgm:prSet presAssocID="{A00D5BEA-F9F8-44DC-B164-2D05FFADE69E}" presName="sibTrans" presStyleLbl="sibTrans2D1" presStyleIdx="5" presStyleCnt="7"/>
      <dgm:spPr/>
    </dgm:pt>
    <dgm:pt modelId="{EFC374B0-2C69-4ED0-BA81-DFC295D03E88}" type="pres">
      <dgm:prSet presAssocID="{A00D5BEA-F9F8-44DC-B164-2D05FFADE69E}" presName="connectorText" presStyleLbl="sibTrans2D1" presStyleIdx="5" presStyleCnt="7"/>
      <dgm:spPr/>
    </dgm:pt>
    <dgm:pt modelId="{4E69C2D8-EAD2-4039-A286-01ED7DDD2E55}" type="pres">
      <dgm:prSet presAssocID="{AE99F657-06C0-4821-904A-0177F1DB1511}" presName="node" presStyleLbl="node1" presStyleIdx="6" presStyleCnt="8">
        <dgm:presLayoutVars>
          <dgm:bulletEnabled val="1"/>
        </dgm:presLayoutVars>
      </dgm:prSet>
      <dgm:spPr/>
    </dgm:pt>
    <dgm:pt modelId="{3FF00B35-1C00-4369-BF1B-7226EA4A8748}" type="pres">
      <dgm:prSet presAssocID="{27837A66-BA13-4DAF-801C-9D71FA40DA13}" presName="sibTrans" presStyleLbl="sibTrans2D1" presStyleIdx="6" presStyleCnt="7"/>
      <dgm:spPr/>
    </dgm:pt>
    <dgm:pt modelId="{88159182-15AC-4995-8367-60C0A76DFF5C}" type="pres">
      <dgm:prSet presAssocID="{27837A66-BA13-4DAF-801C-9D71FA40DA13}" presName="connectorText" presStyleLbl="sibTrans2D1" presStyleIdx="6" presStyleCnt="7"/>
      <dgm:spPr/>
    </dgm:pt>
    <dgm:pt modelId="{52438B67-D42F-4BA3-A415-68C4EE349228}" type="pres">
      <dgm:prSet presAssocID="{28157D64-F4D6-4CAA-9811-786C84123AE9}" presName="node" presStyleLbl="node1" presStyleIdx="7" presStyleCnt="8">
        <dgm:presLayoutVars>
          <dgm:bulletEnabled val="1"/>
        </dgm:presLayoutVars>
      </dgm:prSet>
      <dgm:spPr/>
    </dgm:pt>
  </dgm:ptLst>
  <dgm:cxnLst>
    <dgm:cxn modelId="{426F7F02-4EEF-43B3-BAE3-442AF2F406C2}" type="presOf" srcId="{3E8954BD-3CD0-4130-8072-6A14130041ED}" destId="{38FD4802-D2C2-4809-BDB2-4B5B352B6A8E}" srcOrd="0" destOrd="0" presId="urn:microsoft.com/office/officeart/2005/8/layout/process5"/>
    <dgm:cxn modelId="{44F19119-E51E-4D7F-8151-CEAEF8C7747D}" srcId="{06BB7B6E-1768-4FED-9A4C-FA713C00D723}" destId="{A3AA7575-4174-4E6C-ACF9-AF2EC344FC91}" srcOrd="1" destOrd="0" parTransId="{08CF6382-ABA9-4F7D-8FD4-948537C2C98D}" sibTransId="{A29C6279-2FC0-46D1-831E-3A757AC12B2C}"/>
    <dgm:cxn modelId="{D167641D-5B14-453B-8629-E34329746CCD}" type="presOf" srcId="{27837A66-BA13-4DAF-801C-9D71FA40DA13}" destId="{3FF00B35-1C00-4369-BF1B-7226EA4A8748}" srcOrd="0" destOrd="0" presId="urn:microsoft.com/office/officeart/2005/8/layout/process5"/>
    <dgm:cxn modelId="{D692EC1F-AFD2-4ACB-9EB9-A2260AD285E8}" type="presOf" srcId="{2D79B441-30AB-494A-8E2C-137E87F44FAD}" destId="{A792B33C-352A-40EB-A6C9-044B1CFA8B05}" srcOrd="1" destOrd="0" presId="urn:microsoft.com/office/officeart/2005/8/layout/process5"/>
    <dgm:cxn modelId="{DB20FF1F-A6D3-4CE6-BCC5-9E0E77FDE788}" srcId="{06BB7B6E-1768-4FED-9A4C-FA713C00D723}" destId="{6F7C5C86-1AAC-44E5-A683-3C071F7764B6}" srcOrd="3" destOrd="0" parTransId="{A6164677-5A8B-4670-9157-7811C8B53029}" sibTransId="{03C1B99D-6616-4AA2-B65E-A1ECFAD5F3FF}"/>
    <dgm:cxn modelId="{72F7D122-BD39-46FF-AF94-640D3619D4DA}" type="presOf" srcId="{CD95AB1B-BABA-4222-9334-850080A7ACAC}" destId="{4DEC8600-93C5-4298-9F81-B1D24BAA1733}" srcOrd="0" destOrd="0" presId="urn:microsoft.com/office/officeart/2005/8/layout/process5"/>
    <dgm:cxn modelId="{42007424-642E-41B7-AE49-755143C8720E}" type="presOf" srcId="{A47C3EA2-E54E-44A5-87F1-E3FC715EFF22}" destId="{60DE973B-7F4E-4F17-8F0D-93E2A50CF989}" srcOrd="0" destOrd="0" presId="urn:microsoft.com/office/officeart/2005/8/layout/process5"/>
    <dgm:cxn modelId="{A4274732-79B1-40A6-8F39-2395ACC97281}" type="presOf" srcId="{03C1B99D-6616-4AA2-B65E-A1ECFAD5F3FF}" destId="{F8971B86-81EB-4066-9F74-F37B699C168A}" srcOrd="1" destOrd="0" presId="urn:microsoft.com/office/officeart/2005/8/layout/process5"/>
    <dgm:cxn modelId="{9D884D3B-03EE-464F-AA09-67446B2755C9}" type="presOf" srcId="{A29C6279-2FC0-46D1-831E-3A757AC12B2C}" destId="{9501B422-EB3A-47A0-B89C-CB71A3D0022D}" srcOrd="1" destOrd="0" presId="urn:microsoft.com/office/officeart/2005/8/layout/process5"/>
    <dgm:cxn modelId="{A837133C-DE45-425C-8810-BC9BECBF5D23}" srcId="{06BB7B6E-1768-4FED-9A4C-FA713C00D723}" destId="{A47C3EA2-E54E-44A5-87F1-E3FC715EFF22}" srcOrd="2" destOrd="0" parTransId="{5735A53A-BA78-46B9-BFF3-953BA3950531}" sibTransId="{BE038354-F8FC-458C-84E6-78B685ABB009}"/>
    <dgm:cxn modelId="{7D7B783E-03C1-4060-AC3B-D6072FFF999B}" type="presOf" srcId="{CB8C867F-BAF4-487C-BAB9-4DF08321BD08}" destId="{460A8FF3-AAD8-4B87-A00A-0726BDD3A179}" srcOrd="0" destOrd="0" presId="urn:microsoft.com/office/officeart/2005/8/layout/process5"/>
    <dgm:cxn modelId="{05A13C61-D263-4D67-8E57-D5E2F057A317}" srcId="{06BB7B6E-1768-4FED-9A4C-FA713C00D723}" destId="{CD95AB1B-BABA-4222-9334-850080A7ACAC}" srcOrd="5" destOrd="0" parTransId="{90CC3EB2-D66E-480B-8A35-B45064456AB9}" sibTransId="{A00D5BEA-F9F8-44DC-B164-2D05FFADE69E}"/>
    <dgm:cxn modelId="{1131D566-FB61-47F7-9303-28B90B241E0B}" type="presOf" srcId="{A3AA7575-4174-4E6C-ACF9-AF2EC344FC91}" destId="{75C456BD-E924-4705-8CD8-7DC2B38C52F7}" srcOrd="0" destOrd="0" presId="urn:microsoft.com/office/officeart/2005/8/layout/process5"/>
    <dgm:cxn modelId="{65D6486A-2572-4C5E-B1F9-2BC57F5B8D88}" type="presOf" srcId="{43BDC9DB-86B9-4CCC-84B6-1C477FDE41B9}" destId="{F0C7013C-9E30-4BE5-AD53-49940C3285E0}" srcOrd="0" destOrd="0" presId="urn:microsoft.com/office/officeart/2005/8/layout/process5"/>
    <dgm:cxn modelId="{CB97C26B-7AE1-4309-A72E-901309E9A7A2}" type="presOf" srcId="{BE038354-F8FC-458C-84E6-78B685ABB009}" destId="{620E0599-1CBB-42FD-BEE9-FE21BAF65D39}" srcOrd="1" destOrd="0" presId="urn:microsoft.com/office/officeart/2005/8/layout/process5"/>
    <dgm:cxn modelId="{91830151-740B-47AE-B4A2-F8C29FB2245C}" srcId="{06BB7B6E-1768-4FED-9A4C-FA713C00D723}" destId="{AE99F657-06C0-4821-904A-0177F1DB1511}" srcOrd="6" destOrd="0" parTransId="{D3362A8A-9036-4519-8883-668A5AD022C5}" sibTransId="{27837A66-BA13-4DAF-801C-9D71FA40DA13}"/>
    <dgm:cxn modelId="{2248FF71-243C-4CEC-A8E7-D80B9943FC17}" srcId="{06BB7B6E-1768-4FED-9A4C-FA713C00D723}" destId="{CB8C867F-BAF4-487C-BAB9-4DF08321BD08}" srcOrd="0" destOrd="0" parTransId="{4ACC74E2-5A3D-4518-9F00-59E46673FCE1}" sibTransId="{2D79B441-30AB-494A-8E2C-137E87F44FAD}"/>
    <dgm:cxn modelId="{9BF7D275-18FD-4364-A39A-AC45BBE3F991}" srcId="{06BB7B6E-1768-4FED-9A4C-FA713C00D723}" destId="{28157D64-F4D6-4CAA-9811-786C84123AE9}" srcOrd="7" destOrd="0" parTransId="{B173BF33-B83C-44F4-B01C-81F89092A72C}" sibTransId="{550786FC-987F-40AD-BAF2-286A748246C8}"/>
    <dgm:cxn modelId="{1BD42F84-ADEF-4F92-AEE4-4261B8A55804}" type="presOf" srcId="{03C1B99D-6616-4AA2-B65E-A1ECFAD5F3FF}" destId="{4B6BE2A4-F8C0-4087-9B38-1DB731D75410}" srcOrd="0" destOrd="0" presId="urn:microsoft.com/office/officeart/2005/8/layout/process5"/>
    <dgm:cxn modelId="{5769ED93-5E02-4EAE-B01B-FD5155C782E5}" type="presOf" srcId="{A00D5BEA-F9F8-44DC-B164-2D05FFADE69E}" destId="{EFC374B0-2C69-4ED0-BA81-DFC295D03E88}" srcOrd="1" destOrd="0" presId="urn:microsoft.com/office/officeart/2005/8/layout/process5"/>
    <dgm:cxn modelId="{2420789C-E13D-4B5C-A5B5-CA32F5D3ED55}" type="presOf" srcId="{06BB7B6E-1768-4FED-9A4C-FA713C00D723}" destId="{2C06F41D-799D-4308-86B4-E5A8BB9B6D85}" srcOrd="0" destOrd="0" presId="urn:microsoft.com/office/officeart/2005/8/layout/process5"/>
    <dgm:cxn modelId="{1BCE80A3-6F43-449F-90BD-153EE818F4AE}" type="presOf" srcId="{6F7C5C86-1AAC-44E5-A683-3C071F7764B6}" destId="{7BF1B297-DC94-4C9F-B5F0-129FD83FC01F}" srcOrd="0" destOrd="0" presId="urn:microsoft.com/office/officeart/2005/8/layout/process5"/>
    <dgm:cxn modelId="{306AF1A3-2DEF-40BF-8422-A926F61B2B80}" type="presOf" srcId="{2D79B441-30AB-494A-8E2C-137E87F44FAD}" destId="{B9996F81-4971-453C-80AE-3F4ACA7997F8}" srcOrd="0" destOrd="0" presId="urn:microsoft.com/office/officeart/2005/8/layout/process5"/>
    <dgm:cxn modelId="{CE2D8AAD-911E-4AF2-9243-0FA5E4B3E4C9}" type="presOf" srcId="{A00D5BEA-F9F8-44DC-B164-2D05FFADE69E}" destId="{AE0012EE-E797-469A-9FA3-ED72B13BB4C4}" srcOrd="0" destOrd="0" presId="urn:microsoft.com/office/officeart/2005/8/layout/process5"/>
    <dgm:cxn modelId="{FB20CDBE-3228-4D18-8C3A-D7429FAD8ED6}" type="presOf" srcId="{28157D64-F4D6-4CAA-9811-786C84123AE9}" destId="{52438B67-D42F-4BA3-A415-68C4EE349228}" srcOrd="0" destOrd="0" presId="urn:microsoft.com/office/officeart/2005/8/layout/process5"/>
    <dgm:cxn modelId="{8AA1F2C7-14DB-4334-8D52-66E8B937E233}" type="presOf" srcId="{BE038354-F8FC-458C-84E6-78B685ABB009}" destId="{402A111F-D8E1-4C80-960E-4B52297F89F0}" srcOrd="0" destOrd="0" presId="urn:microsoft.com/office/officeart/2005/8/layout/process5"/>
    <dgm:cxn modelId="{11A68CCC-33A2-41B0-9E4D-CCCF2CCBCF85}" type="presOf" srcId="{A29C6279-2FC0-46D1-831E-3A757AC12B2C}" destId="{29A0644B-83BA-4518-92E6-C0EC0C6D47FA}" srcOrd="0" destOrd="0" presId="urn:microsoft.com/office/officeart/2005/8/layout/process5"/>
    <dgm:cxn modelId="{7564B3D9-5721-48E4-A318-3DFC4FF6142E}" type="presOf" srcId="{3E8954BD-3CD0-4130-8072-6A14130041ED}" destId="{187E0667-75CA-4FE9-9523-820C045B52E3}" srcOrd="1" destOrd="0" presId="urn:microsoft.com/office/officeart/2005/8/layout/process5"/>
    <dgm:cxn modelId="{DE334ADD-80D5-4FDD-8D9B-1CC4DEDDDC33}" srcId="{06BB7B6E-1768-4FED-9A4C-FA713C00D723}" destId="{43BDC9DB-86B9-4CCC-84B6-1C477FDE41B9}" srcOrd="4" destOrd="0" parTransId="{9ADCEE31-7409-4755-AB9D-CEA68B718763}" sibTransId="{3E8954BD-3CD0-4130-8072-6A14130041ED}"/>
    <dgm:cxn modelId="{B31313E3-7847-4F14-9148-AB38D8AB6264}" type="presOf" srcId="{AE99F657-06C0-4821-904A-0177F1DB1511}" destId="{4E69C2D8-EAD2-4039-A286-01ED7DDD2E55}" srcOrd="0" destOrd="0" presId="urn:microsoft.com/office/officeart/2005/8/layout/process5"/>
    <dgm:cxn modelId="{BD3861E9-1FDE-40F2-A652-26767C649491}" type="presOf" srcId="{27837A66-BA13-4DAF-801C-9D71FA40DA13}" destId="{88159182-15AC-4995-8367-60C0A76DFF5C}" srcOrd="1" destOrd="0" presId="urn:microsoft.com/office/officeart/2005/8/layout/process5"/>
    <dgm:cxn modelId="{A1DA0482-4B47-4D22-A194-B01DB762466C}" type="presParOf" srcId="{2C06F41D-799D-4308-86B4-E5A8BB9B6D85}" destId="{460A8FF3-AAD8-4B87-A00A-0726BDD3A179}" srcOrd="0" destOrd="0" presId="urn:microsoft.com/office/officeart/2005/8/layout/process5"/>
    <dgm:cxn modelId="{325F39BA-BB36-4EEE-A9A0-7F147215D0EC}" type="presParOf" srcId="{2C06F41D-799D-4308-86B4-E5A8BB9B6D85}" destId="{B9996F81-4971-453C-80AE-3F4ACA7997F8}" srcOrd="1" destOrd="0" presId="urn:microsoft.com/office/officeart/2005/8/layout/process5"/>
    <dgm:cxn modelId="{D8B90114-9802-4B57-94B5-E02F0B06ED75}" type="presParOf" srcId="{B9996F81-4971-453C-80AE-3F4ACA7997F8}" destId="{A792B33C-352A-40EB-A6C9-044B1CFA8B05}" srcOrd="0" destOrd="0" presId="urn:microsoft.com/office/officeart/2005/8/layout/process5"/>
    <dgm:cxn modelId="{44282445-2D44-4906-ACF6-79883E4EB342}" type="presParOf" srcId="{2C06F41D-799D-4308-86B4-E5A8BB9B6D85}" destId="{75C456BD-E924-4705-8CD8-7DC2B38C52F7}" srcOrd="2" destOrd="0" presId="urn:microsoft.com/office/officeart/2005/8/layout/process5"/>
    <dgm:cxn modelId="{C8877A27-F69E-4D55-8507-3B8433B91B6F}" type="presParOf" srcId="{2C06F41D-799D-4308-86B4-E5A8BB9B6D85}" destId="{29A0644B-83BA-4518-92E6-C0EC0C6D47FA}" srcOrd="3" destOrd="0" presId="urn:microsoft.com/office/officeart/2005/8/layout/process5"/>
    <dgm:cxn modelId="{745B9AF8-D356-4F6E-AEB1-F0FB9C16045C}" type="presParOf" srcId="{29A0644B-83BA-4518-92E6-C0EC0C6D47FA}" destId="{9501B422-EB3A-47A0-B89C-CB71A3D0022D}" srcOrd="0" destOrd="0" presId="urn:microsoft.com/office/officeart/2005/8/layout/process5"/>
    <dgm:cxn modelId="{39E18F6E-3E48-4F0E-83C3-AC21CC543D75}" type="presParOf" srcId="{2C06F41D-799D-4308-86B4-E5A8BB9B6D85}" destId="{60DE973B-7F4E-4F17-8F0D-93E2A50CF989}" srcOrd="4" destOrd="0" presId="urn:microsoft.com/office/officeart/2005/8/layout/process5"/>
    <dgm:cxn modelId="{5893AA64-B91A-4DB4-8994-ACD8A2B2B220}" type="presParOf" srcId="{2C06F41D-799D-4308-86B4-E5A8BB9B6D85}" destId="{402A111F-D8E1-4C80-960E-4B52297F89F0}" srcOrd="5" destOrd="0" presId="urn:microsoft.com/office/officeart/2005/8/layout/process5"/>
    <dgm:cxn modelId="{30755F07-12CB-430D-9722-FE3499683676}" type="presParOf" srcId="{402A111F-D8E1-4C80-960E-4B52297F89F0}" destId="{620E0599-1CBB-42FD-BEE9-FE21BAF65D39}" srcOrd="0" destOrd="0" presId="urn:microsoft.com/office/officeart/2005/8/layout/process5"/>
    <dgm:cxn modelId="{F0CCD1E3-B8BE-4BEA-8628-E0D1033AD5B0}" type="presParOf" srcId="{2C06F41D-799D-4308-86B4-E5A8BB9B6D85}" destId="{7BF1B297-DC94-4C9F-B5F0-129FD83FC01F}" srcOrd="6" destOrd="0" presId="urn:microsoft.com/office/officeart/2005/8/layout/process5"/>
    <dgm:cxn modelId="{5244BB9E-E33A-4096-85FA-1D2862B22D32}" type="presParOf" srcId="{2C06F41D-799D-4308-86B4-E5A8BB9B6D85}" destId="{4B6BE2A4-F8C0-4087-9B38-1DB731D75410}" srcOrd="7" destOrd="0" presId="urn:microsoft.com/office/officeart/2005/8/layout/process5"/>
    <dgm:cxn modelId="{C4F2A70D-38CC-4E4E-A16F-8E30540AAE33}" type="presParOf" srcId="{4B6BE2A4-F8C0-4087-9B38-1DB731D75410}" destId="{F8971B86-81EB-4066-9F74-F37B699C168A}" srcOrd="0" destOrd="0" presId="urn:microsoft.com/office/officeart/2005/8/layout/process5"/>
    <dgm:cxn modelId="{B6369835-FC53-47AE-8635-F6D0C6B3BDDB}" type="presParOf" srcId="{2C06F41D-799D-4308-86B4-E5A8BB9B6D85}" destId="{F0C7013C-9E30-4BE5-AD53-49940C3285E0}" srcOrd="8" destOrd="0" presId="urn:microsoft.com/office/officeart/2005/8/layout/process5"/>
    <dgm:cxn modelId="{3CB30C24-F46D-4FD4-91B5-B139C838C00C}" type="presParOf" srcId="{2C06F41D-799D-4308-86B4-E5A8BB9B6D85}" destId="{38FD4802-D2C2-4809-BDB2-4B5B352B6A8E}" srcOrd="9" destOrd="0" presId="urn:microsoft.com/office/officeart/2005/8/layout/process5"/>
    <dgm:cxn modelId="{808081F1-F360-4B46-A493-0E78FABEF865}" type="presParOf" srcId="{38FD4802-D2C2-4809-BDB2-4B5B352B6A8E}" destId="{187E0667-75CA-4FE9-9523-820C045B52E3}" srcOrd="0" destOrd="0" presId="urn:microsoft.com/office/officeart/2005/8/layout/process5"/>
    <dgm:cxn modelId="{F76C40B3-46A7-4250-8AD8-8F2AC4DD0318}" type="presParOf" srcId="{2C06F41D-799D-4308-86B4-E5A8BB9B6D85}" destId="{4DEC8600-93C5-4298-9F81-B1D24BAA1733}" srcOrd="10" destOrd="0" presId="urn:microsoft.com/office/officeart/2005/8/layout/process5"/>
    <dgm:cxn modelId="{367C2826-DCE2-49A3-8A82-97B42AF1F34F}" type="presParOf" srcId="{2C06F41D-799D-4308-86B4-E5A8BB9B6D85}" destId="{AE0012EE-E797-469A-9FA3-ED72B13BB4C4}" srcOrd="11" destOrd="0" presId="urn:microsoft.com/office/officeart/2005/8/layout/process5"/>
    <dgm:cxn modelId="{ACCE0D0F-BCF7-4B80-B2EA-7CA9ACFFABF8}" type="presParOf" srcId="{AE0012EE-E797-469A-9FA3-ED72B13BB4C4}" destId="{EFC374B0-2C69-4ED0-BA81-DFC295D03E88}" srcOrd="0" destOrd="0" presId="urn:microsoft.com/office/officeart/2005/8/layout/process5"/>
    <dgm:cxn modelId="{0EBCEE45-FD57-4942-8ED9-807DC2F67FC4}" type="presParOf" srcId="{2C06F41D-799D-4308-86B4-E5A8BB9B6D85}" destId="{4E69C2D8-EAD2-4039-A286-01ED7DDD2E55}" srcOrd="12" destOrd="0" presId="urn:microsoft.com/office/officeart/2005/8/layout/process5"/>
    <dgm:cxn modelId="{68F9C0DA-225D-461C-A085-5E807ED8391C}" type="presParOf" srcId="{2C06F41D-799D-4308-86B4-E5A8BB9B6D85}" destId="{3FF00B35-1C00-4369-BF1B-7226EA4A8748}" srcOrd="13" destOrd="0" presId="urn:microsoft.com/office/officeart/2005/8/layout/process5"/>
    <dgm:cxn modelId="{747A3C4A-20F0-471D-8492-3752155D2C70}" type="presParOf" srcId="{3FF00B35-1C00-4369-BF1B-7226EA4A8748}" destId="{88159182-15AC-4995-8367-60C0A76DFF5C}" srcOrd="0" destOrd="0" presId="urn:microsoft.com/office/officeart/2005/8/layout/process5"/>
    <dgm:cxn modelId="{2CA297F7-9C32-41D8-AFFA-71696C14060C}" type="presParOf" srcId="{2C06F41D-799D-4308-86B4-E5A8BB9B6D85}" destId="{52438B67-D42F-4BA3-A415-68C4EE349228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A8FF3-AAD8-4B87-A00A-0726BDD3A179}">
      <dsp:nvSpPr>
        <dsp:cNvPr id="0" name=""/>
        <dsp:cNvSpPr/>
      </dsp:nvSpPr>
      <dsp:spPr>
        <a:xfrm>
          <a:off x="3946" y="688390"/>
          <a:ext cx="1725430" cy="1035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News Article</a:t>
          </a:r>
        </a:p>
      </dsp:txBody>
      <dsp:txXfrm>
        <a:off x="34268" y="718712"/>
        <a:ext cx="1664786" cy="974614"/>
      </dsp:txXfrm>
    </dsp:sp>
    <dsp:sp modelId="{B9996F81-4971-453C-80AE-3F4ACA7997F8}">
      <dsp:nvSpPr>
        <dsp:cNvPr id="0" name=""/>
        <dsp:cNvSpPr/>
      </dsp:nvSpPr>
      <dsp:spPr>
        <a:xfrm>
          <a:off x="1881214" y="992066"/>
          <a:ext cx="365791" cy="427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1881214" y="1077647"/>
        <a:ext cx="256054" cy="256744"/>
      </dsp:txXfrm>
    </dsp:sp>
    <dsp:sp modelId="{75C456BD-E924-4705-8CD8-7DC2B38C52F7}">
      <dsp:nvSpPr>
        <dsp:cNvPr id="0" name=""/>
        <dsp:cNvSpPr/>
      </dsp:nvSpPr>
      <dsp:spPr>
        <a:xfrm>
          <a:off x="2419548" y="688390"/>
          <a:ext cx="1725430" cy="1035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Language</a:t>
          </a:r>
          <a:br>
            <a:rPr lang="en-IN" sz="1900" kern="1200" dirty="0"/>
          </a:br>
          <a:r>
            <a:rPr lang="en-IN" sz="1900" kern="1200" dirty="0"/>
            <a:t>Detection</a:t>
          </a:r>
        </a:p>
      </dsp:txBody>
      <dsp:txXfrm>
        <a:off x="2449870" y="718712"/>
        <a:ext cx="1664786" cy="974614"/>
      </dsp:txXfrm>
    </dsp:sp>
    <dsp:sp modelId="{29A0644B-83BA-4518-92E6-C0EC0C6D47FA}">
      <dsp:nvSpPr>
        <dsp:cNvPr id="0" name=""/>
        <dsp:cNvSpPr/>
      </dsp:nvSpPr>
      <dsp:spPr>
        <a:xfrm>
          <a:off x="4296816" y="992066"/>
          <a:ext cx="365791" cy="427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4296816" y="1077647"/>
        <a:ext cx="256054" cy="256744"/>
      </dsp:txXfrm>
    </dsp:sp>
    <dsp:sp modelId="{60DE973B-7F4E-4F17-8F0D-93E2A50CF989}">
      <dsp:nvSpPr>
        <dsp:cNvPr id="0" name=""/>
        <dsp:cNvSpPr/>
      </dsp:nvSpPr>
      <dsp:spPr>
        <a:xfrm>
          <a:off x="4835150" y="688390"/>
          <a:ext cx="1725430" cy="1035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Language-Aware</a:t>
          </a:r>
          <a:br>
            <a:rPr lang="en-IN" sz="1900" kern="1200" dirty="0"/>
          </a:br>
          <a:r>
            <a:rPr lang="en-IN" sz="1900" kern="1200" dirty="0"/>
            <a:t>Preprocessing</a:t>
          </a:r>
        </a:p>
      </dsp:txBody>
      <dsp:txXfrm>
        <a:off x="4865472" y="718712"/>
        <a:ext cx="1664786" cy="974614"/>
      </dsp:txXfrm>
    </dsp:sp>
    <dsp:sp modelId="{402A111F-D8E1-4C80-960E-4B52297F89F0}">
      <dsp:nvSpPr>
        <dsp:cNvPr id="0" name=""/>
        <dsp:cNvSpPr/>
      </dsp:nvSpPr>
      <dsp:spPr>
        <a:xfrm>
          <a:off x="6712418" y="992066"/>
          <a:ext cx="365791" cy="427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6712418" y="1077647"/>
        <a:ext cx="256054" cy="256744"/>
      </dsp:txXfrm>
    </dsp:sp>
    <dsp:sp modelId="{7BF1B297-DC94-4C9F-B5F0-129FD83FC01F}">
      <dsp:nvSpPr>
        <dsp:cNvPr id="0" name=""/>
        <dsp:cNvSpPr/>
      </dsp:nvSpPr>
      <dsp:spPr>
        <a:xfrm>
          <a:off x="7250752" y="688390"/>
          <a:ext cx="1725430" cy="1035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XLM-</a:t>
          </a:r>
          <a:r>
            <a:rPr lang="en-IN" sz="1900" kern="1200" dirty="0" err="1"/>
            <a:t>RoBERTa</a:t>
          </a:r>
          <a:br>
            <a:rPr lang="en-IN" sz="1900" kern="1200" dirty="0"/>
          </a:br>
          <a:r>
            <a:rPr lang="en-IN" sz="1900" kern="1200" dirty="0"/>
            <a:t>Tokenizer</a:t>
          </a:r>
        </a:p>
      </dsp:txBody>
      <dsp:txXfrm>
        <a:off x="7281074" y="718712"/>
        <a:ext cx="1664786" cy="974614"/>
      </dsp:txXfrm>
    </dsp:sp>
    <dsp:sp modelId="{4B6BE2A4-F8C0-4087-9B38-1DB731D75410}">
      <dsp:nvSpPr>
        <dsp:cNvPr id="0" name=""/>
        <dsp:cNvSpPr/>
      </dsp:nvSpPr>
      <dsp:spPr>
        <a:xfrm rot="5400000">
          <a:off x="7930572" y="1844429"/>
          <a:ext cx="365791" cy="427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 rot="-5400000">
        <a:off x="7985096" y="1875487"/>
        <a:ext cx="256744" cy="256054"/>
      </dsp:txXfrm>
    </dsp:sp>
    <dsp:sp modelId="{F0C7013C-9E30-4BE5-AD53-49940C3285E0}">
      <dsp:nvSpPr>
        <dsp:cNvPr id="0" name=""/>
        <dsp:cNvSpPr/>
      </dsp:nvSpPr>
      <dsp:spPr>
        <a:xfrm>
          <a:off x="7250752" y="2413821"/>
          <a:ext cx="1725430" cy="1035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Fine-tuned</a:t>
          </a:r>
          <a:br>
            <a:rPr lang="en-IN" sz="1900" kern="1200"/>
          </a:br>
          <a:r>
            <a:rPr lang="en-IN" sz="1900" kern="1200"/>
            <a:t>Classifier</a:t>
          </a:r>
          <a:endParaRPr lang="en-IN" sz="1900" kern="1200" dirty="0"/>
        </a:p>
      </dsp:txBody>
      <dsp:txXfrm>
        <a:off x="7281074" y="2444143"/>
        <a:ext cx="1664786" cy="974614"/>
      </dsp:txXfrm>
    </dsp:sp>
    <dsp:sp modelId="{38FD4802-D2C2-4809-BDB2-4B5B352B6A8E}">
      <dsp:nvSpPr>
        <dsp:cNvPr id="0" name=""/>
        <dsp:cNvSpPr/>
      </dsp:nvSpPr>
      <dsp:spPr>
        <a:xfrm rot="10800000">
          <a:off x="6733123" y="2717496"/>
          <a:ext cx="365791" cy="427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 rot="10800000">
        <a:off x="6842860" y="2803077"/>
        <a:ext cx="256054" cy="256744"/>
      </dsp:txXfrm>
    </dsp:sp>
    <dsp:sp modelId="{4DEC8600-93C5-4298-9F81-B1D24BAA1733}">
      <dsp:nvSpPr>
        <dsp:cNvPr id="0" name=""/>
        <dsp:cNvSpPr/>
      </dsp:nvSpPr>
      <dsp:spPr>
        <a:xfrm>
          <a:off x="4835150" y="2413821"/>
          <a:ext cx="1725430" cy="1035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Category +</a:t>
          </a:r>
          <a:br>
            <a:rPr lang="en-IN" sz="1900" kern="1200" dirty="0"/>
          </a:br>
          <a:r>
            <a:rPr lang="en-IN" sz="1900" kern="1200" dirty="0"/>
            <a:t>Confidence</a:t>
          </a:r>
        </a:p>
      </dsp:txBody>
      <dsp:txXfrm>
        <a:off x="4865472" y="2444143"/>
        <a:ext cx="1664786" cy="974614"/>
      </dsp:txXfrm>
    </dsp:sp>
    <dsp:sp modelId="{AE0012EE-E797-469A-9FA3-ED72B13BB4C4}">
      <dsp:nvSpPr>
        <dsp:cNvPr id="0" name=""/>
        <dsp:cNvSpPr/>
      </dsp:nvSpPr>
      <dsp:spPr>
        <a:xfrm rot="10800000">
          <a:off x="4317521" y="2717496"/>
          <a:ext cx="365791" cy="427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 rot="10800000">
        <a:off x="4427258" y="2803077"/>
        <a:ext cx="256054" cy="256744"/>
      </dsp:txXfrm>
    </dsp:sp>
    <dsp:sp modelId="{4E69C2D8-EAD2-4039-A286-01ED7DDD2E55}">
      <dsp:nvSpPr>
        <dsp:cNvPr id="0" name=""/>
        <dsp:cNvSpPr/>
      </dsp:nvSpPr>
      <dsp:spPr>
        <a:xfrm>
          <a:off x="2419548" y="2413821"/>
          <a:ext cx="1725430" cy="1035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Confidence</a:t>
          </a:r>
          <a:br>
            <a:rPr lang="en-IN" sz="1900" kern="1200" dirty="0"/>
          </a:br>
          <a:r>
            <a:rPr lang="en-IN" sz="1900" kern="1200" dirty="0"/>
            <a:t>Threshold</a:t>
          </a:r>
        </a:p>
      </dsp:txBody>
      <dsp:txXfrm>
        <a:off x="2449870" y="2444143"/>
        <a:ext cx="1664786" cy="974614"/>
      </dsp:txXfrm>
    </dsp:sp>
    <dsp:sp modelId="{3FF00B35-1C00-4369-BF1B-7226EA4A8748}">
      <dsp:nvSpPr>
        <dsp:cNvPr id="0" name=""/>
        <dsp:cNvSpPr/>
      </dsp:nvSpPr>
      <dsp:spPr>
        <a:xfrm rot="10800000">
          <a:off x="1901919" y="2717496"/>
          <a:ext cx="365791" cy="427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 rot="10800000">
        <a:off x="2011656" y="2803077"/>
        <a:ext cx="256054" cy="256744"/>
      </dsp:txXfrm>
    </dsp:sp>
    <dsp:sp modelId="{52438B67-D42F-4BA3-A415-68C4EE349228}">
      <dsp:nvSpPr>
        <dsp:cNvPr id="0" name=""/>
        <dsp:cNvSpPr/>
      </dsp:nvSpPr>
      <dsp:spPr>
        <a:xfrm>
          <a:off x="3946" y="2413821"/>
          <a:ext cx="1725430" cy="1035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Accept / Review</a:t>
          </a:r>
          <a:endParaRPr lang="en-IN" sz="1900" kern="1200" dirty="0"/>
        </a:p>
      </dsp:txBody>
      <dsp:txXfrm>
        <a:off x="34268" y="2444143"/>
        <a:ext cx="1664786" cy="9746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IN" sz="2700" dirty="0"/>
              <a:t>AI-Based Multilingual News Categorization System</a:t>
            </a:r>
            <a:endParaRPr lang="en-US" sz="27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6900" y="1441006"/>
            <a:ext cx="8458200" cy="2895600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>
              <a:lnSpc>
                <a:spcPct val="80000"/>
              </a:lnSpc>
              <a:defRPr/>
            </a:pPr>
            <a:endParaRPr lang="en-US" sz="37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Name: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G. Surya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Roll: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2420090102</a:t>
            </a:r>
            <a:endParaRPr lang="en-US" sz="37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Name: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Ch. Siddhartha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</a:t>
            </a: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Roll: 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2420090015</a:t>
            </a: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Name: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Y.V.  Likhith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</a:t>
            </a: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Roll: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2420090142</a:t>
            </a:r>
            <a:endParaRPr lang="en-US" sz="37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Name: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K. </a:t>
            </a:r>
            <a:r>
              <a:rPr lang="en-IN" sz="37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Rishiwan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</a:t>
            </a: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Roll: 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2420030762</a:t>
            </a:r>
          </a:p>
          <a:p>
            <a:pPr>
              <a:lnSpc>
                <a:spcPct val="80000"/>
              </a:lnSpc>
              <a:defRPr/>
            </a:pPr>
            <a:endParaRPr lang="en-US" sz="37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37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5</a:t>
            </a:r>
          </a:p>
          <a:p>
            <a:pPr>
              <a:lnSpc>
                <a:spcPct val="80000"/>
              </a:lnSpc>
              <a:defRPr/>
            </a:pPr>
            <a:endParaRPr lang="en-US" sz="37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37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GB" sz="3700" b="1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>
              <a:lnSpc>
                <a:spcPct val="80000"/>
              </a:lnSpc>
              <a:defRPr/>
            </a:pPr>
            <a:endParaRPr lang="en-US" sz="37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KATANGURI SWATHANA</a:t>
            </a: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pPr>
              <a:lnSpc>
                <a:spcPct val="80000"/>
              </a:lnSpc>
              <a:defRPr/>
            </a:pPr>
            <a:endParaRPr lang="en-US" sz="37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1873155" y="5257801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014" y="3969194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77497" y="347472"/>
            <a:ext cx="549243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Problem Statement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438912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44752"/>
            <a:ext cx="94820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3154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A"/>
                </a:solidFill>
              </a:defRPr>
            </a:pPr>
            <a:r>
              <a:t>Large volumes of online news are published continuously. Manual categorization is slow and difficult to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38912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44752"/>
            <a:ext cx="220688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Multilingual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54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A"/>
                </a:solidFill>
              </a:defRPr>
            </a:pPr>
            <a:r>
              <a:t>News is published in different languages and writing styles. A useful system should preserve semantic information across languages.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520440" cy="438912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444752"/>
            <a:ext cx="243368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Current Project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892807"/>
            <a:ext cx="3154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A"/>
                </a:solidFill>
              </a:defRPr>
            </a:pPr>
            <a:r>
              <a:t>Use NLP preprocessing and XLM-RoBERTa to predict a news category and provide a confidence score.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82064" y="229041"/>
            <a:ext cx="35595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3052"/>
                </a:solidFill>
              </a:defRPr>
            </a:pPr>
            <a:r>
              <a:rPr sz="3200" dirty="0">
                <a:solidFill>
                  <a:schemeClr val="tx2"/>
                </a:solidFill>
              </a:rPr>
              <a:t>Related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64285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rPr lang="en-US" sz="1400" dirty="0"/>
              <a:t>Existing research already demonstrates multilingual transformer-based news analysis.</a:t>
            </a:r>
            <a:endParaRPr sz="1400" dirty="0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920240" cy="502920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Study /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234440"/>
            <a:ext cx="1828800" cy="502920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234440"/>
            <a:ext cx="2971800" cy="502920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Main contribution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234440"/>
            <a:ext cx="4572000" cy="502920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Limitation relevant to our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1920240" cy="1078992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D3A"/>
                </a:solidFill>
              </a:defRPr>
            </a:pPr>
            <a:r>
              <a:t>Pelicon et al. (2020)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737360"/>
            <a:ext cx="1828800" cy="1078992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rPr dirty="0" err="1"/>
              <a:t>mBERT</a:t>
            </a:r>
            <a:r>
              <a:rPr dirty="0"/>
              <a:t> + cross-lingual transfer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737360"/>
            <a:ext cx="2971800" cy="1078992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Zero-shot multilingual news sentiment classification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737360"/>
            <a:ext cx="4572000" cy="1078992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Focuses on sentiment; long-document handling remains a challenge.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16352"/>
            <a:ext cx="192024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D3A"/>
                </a:solidFill>
              </a:defRPr>
            </a:pPr>
            <a:r>
              <a:t>Wu et al. (2023)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816352"/>
            <a:ext cx="1828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mBERT / XLM-R + adapters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2816352"/>
            <a:ext cx="2971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Multilingual news genre, framing and persuasion tasks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816352"/>
            <a:ext cx="45720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Uses task-specific ensembles/adapters; not a simple end-to-end category classifier.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95344"/>
            <a:ext cx="1920240" cy="1078992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D3A"/>
                </a:solidFill>
              </a:defRPr>
            </a:pPr>
            <a:r>
              <a:t>Wiriyathammabhum (2022)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895344"/>
            <a:ext cx="1828800" cy="1078992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XLM-R / mLUKE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895344"/>
            <a:ext cx="2971800" cy="1078992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Multilingual protest-news document classification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895344"/>
            <a:ext cx="4572000" cy="1078992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Larger models improve results but increase computational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974336"/>
            <a:ext cx="192024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32D3A"/>
                </a:solidFill>
              </a:defRPr>
            </a:pPr>
            <a:r>
              <a:t>Kuzman &amp; Ljubešić (2024/25)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4974336"/>
            <a:ext cx="1828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LLM teacher → smaller multilingual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4974336"/>
            <a:ext cx="2971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Automatic multilingual news topic classification with reduced manual annotation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974336"/>
            <a:ext cx="45720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32D3A"/>
                </a:solidFill>
              </a:defRPr>
            </a:pPr>
            <a:r>
              <a:t>Requires teacher-model generation and a separate training pipeline.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84207" y="347472"/>
            <a:ext cx="642988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Limitations Identified from Existing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10972800" cy="804672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7792" y="1265591"/>
            <a:ext cx="285116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Language / domain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792" y="1640700"/>
            <a:ext cx="10607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rPr dirty="0"/>
              <a:t>Performance can change when the target language or news domain differs from training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57984"/>
            <a:ext cx="10972800" cy="804672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225916"/>
            <a:ext cx="219188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Long news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342" y="2601025"/>
            <a:ext cx="10607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rPr dirty="0"/>
              <a:t>Transformer inputs have length constraints; useful information can be lost when articles are truncated.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45536"/>
            <a:ext cx="10972800" cy="804672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193929"/>
            <a:ext cx="194668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Computational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11880"/>
            <a:ext cx="10607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t>Large multilingual transformers provide strong representations but can require more memory and training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33088"/>
            <a:ext cx="10972800" cy="804672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792" y="4191688"/>
            <a:ext cx="219746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Limited error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792" y="4559347"/>
            <a:ext cx="10607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rPr dirty="0"/>
              <a:t>A confidence score alone does not define what should happen when the model is uncertain.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120640"/>
            <a:ext cx="10972800" cy="804672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7792" y="5140599"/>
            <a:ext cx="150214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Evaluation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792" y="5463540"/>
            <a:ext cx="1060704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A"/>
                </a:solidFill>
              </a:defRPr>
            </a:pPr>
            <a:r>
              <a:rPr dirty="0"/>
              <a:t>A single model result is not enough; baseline models and language-wise performance should be compared.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9717" y="347472"/>
            <a:ext cx="303104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Research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57800" cy="4480560"/>
          </a:xfrm>
          <a:prstGeom prst="roundRect">
            <a:avLst/>
          </a:prstGeom>
          <a:solidFill>
            <a:srgbClr val="EFF4F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53312"/>
            <a:ext cx="297248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What existing work establishes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01368"/>
            <a:ext cx="4892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A"/>
                </a:solidFill>
              </a:defRPr>
            </a:pPr>
            <a:r>
              <a:rPr dirty="0"/>
              <a:t>Multilingual transformer models such as </a:t>
            </a:r>
            <a:r>
              <a:rPr dirty="0" err="1"/>
              <a:t>mBERT</a:t>
            </a:r>
            <a:r>
              <a:rPr dirty="0"/>
              <a:t> and XLM-</a:t>
            </a:r>
            <a:r>
              <a:rPr dirty="0" err="1"/>
              <a:t>RoBERTa</a:t>
            </a:r>
            <a:r>
              <a:rPr dirty="0"/>
              <a:t> can perform cross-lingual news-related classification. Research also explores adapters, domain adaptation, zero-shot transfer and teacher–student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4480560"/>
          </a:xfrm>
          <a:prstGeom prst="roundRect">
            <a:avLst/>
          </a:prstGeom>
          <a:solidFill>
            <a:srgbClr val="EFF4F9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353312"/>
            <a:ext cx="286180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Gap addressed by this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01368"/>
            <a:ext cx="4892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A"/>
                </a:solidFill>
              </a:defRPr>
            </a:pPr>
            <a:r>
              <a:t>There is room for a practical, experimentally evaluated news categorization pipeline that combines multilingual preprocessing, transformer classification, confidence-aware handling and systematic comparison across baseline and multilingual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13248" y="2926080"/>
            <a:ext cx="1325880" cy="658368"/>
          </a:xfrm>
          <a:prstGeom prst="roundRect">
            <a:avLst/>
          </a:prstGeom>
          <a:solidFill>
            <a:srgbClr val="E2EBF5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3052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Gap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75191" y="347472"/>
            <a:ext cx="804131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Proposed Innovation &amp; Research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394960" cy="452628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233275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Proposed enhancement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01368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A"/>
                </a:solidFill>
              </a:defRPr>
            </a:pPr>
            <a:r>
              <a:t>1. Detect/record the input language.</a:t>
            </a:r>
            <a:br/>
            <a:r>
              <a:t>2. Apply language-aware text cleaning.</a:t>
            </a:r>
            <a:br/>
            <a:r>
              <a:t>3. Fine-tune XLM-RoBERTa for category prediction.</a:t>
            </a:r>
            <a:br/>
            <a:r>
              <a:t>4. Use a confidence threshold to flag uncertain predictions.</a:t>
            </a:r>
            <a:br/>
            <a:r>
              <a:t>5. Compare against classical and multilingual baselines.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440680" cy="452628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353312"/>
            <a:ext cx="196367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Research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01368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A"/>
                </a:solidFill>
              </a:defRPr>
            </a:pPr>
            <a:r>
              <a:t>• Measure multilingual classification performance.</a:t>
            </a:r>
            <a:br/>
            <a:r>
              <a:t>• Compare XLM-RoBERTa with baseline models.</a:t>
            </a:r>
            <a:br/>
            <a:r>
              <a:t>• Evaluate language-wise and category-wise performance.</a:t>
            </a:r>
            <a:br/>
            <a:r>
              <a:t>• Study low-confidence predictions and errors.</a:t>
            </a:r>
            <a:br/>
            <a:r>
              <a:t>• Determine whether the proposed enhancement improves F1-score and reliability.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C8CE-D7C1-E936-6C3A-77FB20AFE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08" y="23583"/>
            <a:ext cx="10997381" cy="91506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2"/>
                </a:solidFill>
                <a:latin typeface="+mn-lt"/>
              </a:rPr>
              <a:t>Proposed Work — Framework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197459E-EC9F-6B6C-3A76-1E0B14D602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3753417"/>
              </p:ext>
            </p:extLst>
          </p:nvPr>
        </p:nvGraphicFramePr>
        <p:xfrm>
          <a:off x="2199147" y="1142454"/>
          <a:ext cx="8980129" cy="413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B2ACBB-3F85-3A9D-4E03-ED8962CCF97D}"/>
              </a:ext>
            </a:extLst>
          </p:cNvPr>
          <p:cNvSpPr txBox="1"/>
          <p:nvPr/>
        </p:nvSpPr>
        <p:spPr>
          <a:xfrm>
            <a:off x="1347019" y="5427405"/>
            <a:ext cx="100190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Key enhancement: classification is evaluated together with language context and uncertainty, not only the predicted label.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550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30168" y="347472"/>
            <a:ext cx="40568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Implementation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2743200" cy="4526280"/>
          </a:xfrm>
          <a:prstGeom prst="roundRect">
            <a:avLst/>
          </a:prstGeom>
          <a:solidFill>
            <a:srgbClr val="EFF4F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261872"/>
            <a:ext cx="96449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755648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A"/>
                </a:solidFill>
              </a:defRPr>
            </a:pPr>
            <a:r>
              <a:t>AG News</a:t>
            </a:r>
            <a:br/>
            <a:r>
              <a:t>• &gt;120,000 articles</a:t>
            </a:r>
            <a:br/>
            <a:r>
              <a:t>• World, Sports, Business, Science/Technology</a:t>
            </a:r>
            <a:br/>
            <a:br/>
            <a:r>
              <a:t>BBC News</a:t>
            </a:r>
            <a:br/>
            <a:r>
              <a:t>• Business, Entertainment, Politics, Sport, 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43000"/>
            <a:ext cx="2743200" cy="452628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1261872"/>
            <a:ext cx="143789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709928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A"/>
                </a:solidFill>
              </a:defRPr>
            </a:pPr>
            <a:r>
              <a:t>• Normalize text</a:t>
            </a:r>
            <a:br/>
            <a:r>
              <a:t>• Remove URLs</a:t>
            </a:r>
            <a:br/>
            <a:r>
              <a:t>• Remove HTML</a:t>
            </a:r>
            <a:br/>
            <a:r>
              <a:t>• Clean unwanted symbols</a:t>
            </a:r>
            <a:br/>
            <a:r>
              <a:t>• Tokenize with XLM-RoBERTa</a:t>
            </a:r>
            <a:br/>
            <a:r>
              <a:t>• Preserve language-specific meaning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143000"/>
            <a:ext cx="2514600" cy="452628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261872"/>
            <a:ext cx="85792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709928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A"/>
                </a:solidFill>
              </a:defRPr>
            </a:pPr>
            <a:r>
              <a:t>Baseline:</a:t>
            </a:r>
            <a:br/>
            <a:r>
              <a:t>• TF-IDF + SVM</a:t>
            </a:r>
            <a:br/>
            <a:br/>
            <a:r>
              <a:t>Multilingual:</a:t>
            </a:r>
            <a:br/>
            <a:r>
              <a:t>• mBERT</a:t>
            </a:r>
            <a:br/>
            <a:r>
              <a:t>• XLM-RoBERTa</a:t>
            </a:r>
            <a:br/>
            <a:br/>
            <a:r>
              <a:t>Proposed:</a:t>
            </a:r>
            <a:br/>
            <a:r>
              <a:t>• XLM-R + confidence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143000"/>
            <a:ext cx="2606040" cy="452628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53728" y="1261872"/>
            <a:ext cx="112915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1709928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A"/>
                </a:solidFill>
              </a:defRPr>
            </a:pPr>
            <a:r>
              <a:t>Accuracy</a:t>
            </a:r>
            <a:br/>
            <a:r>
              <a:t>Precision</a:t>
            </a:r>
            <a:br/>
            <a:r>
              <a:t>Recall</a:t>
            </a:r>
            <a:br/>
            <a:r>
              <a:t>Macro / Weighted F1</a:t>
            </a:r>
            <a:br/>
            <a:r>
              <a:t>Confusion matrix</a:t>
            </a:r>
            <a:br/>
            <a:r>
              <a:t>Language-wise analysis</a:t>
            </a:r>
            <a:br/>
            <a:r>
              <a:t>Error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30012" y="246548"/>
            <a:ext cx="591901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Results &amp; Observation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59535"/>
            <a:ext cx="11155680" cy="96012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295" y="991173"/>
            <a:ext cx="110222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Important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25624"/>
            <a:ext cx="10789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A"/>
                </a:solidFill>
              </a:defRPr>
            </a:pPr>
            <a:r>
              <a:rPr dirty="0"/>
              <a:t>No performance values are invented here. Actual metrics must be filled after training and testing the implemented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2743200" cy="502920"/>
          </a:xfrm>
          <a:prstGeom prst="rect">
            <a:avLst/>
          </a:prstGeom>
          <a:solidFill>
            <a:srgbClr val="18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331720"/>
            <a:ext cx="1234440" cy="502920"/>
          </a:xfrm>
          <a:prstGeom prst="rect">
            <a:avLst/>
          </a:prstGeom>
          <a:solidFill>
            <a:srgbClr val="18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331720"/>
            <a:ext cx="1234440" cy="502920"/>
          </a:xfrm>
          <a:prstGeom prst="rect">
            <a:avLst/>
          </a:prstGeom>
          <a:solidFill>
            <a:srgbClr val="18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2331720"/>
            <a:ext cx="1234440" cy="502920"/>
          </a:xfrm>
          <a:prstGeom prst="rect">
            <a:avLst/>
          </a:prstGeom>
          <a:solidFill>
            <a:srgbClr val="18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331720"/>
            <a:ext cx="1234440" cy="502920"/>
          </a:xfrm>
          <a:prstGeom prst="rect">
            <a:avLst/>
          </a:prstGeom>
          <a:solidFill>
            <a:srgbClr val="18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F1-score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2331720"/>
            <a:ext cx="3474720" cy="502920"/>
          </a:xfrm>
          <a:prstGeom prst="rect">
            <a:avLst/>
          </a:prstGeom>
          <a:solidFill>
            <a:srgbClr val="1830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34639"/>
            <a:ext cx="274320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TF-IDF + SVM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834639"/>
            <a:ext cx="123444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2834639"/>
            <a:ext cx="123444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834639"/>
            <a:ext cx="123444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834639"/>
            <a:ext cx="123444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2834639"/>
            <a:ext cx="347472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Classical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20439"/>
            <a:ext cx="27432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mBERT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520439"/>
            <a:ext cx="1234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3520439"/>
            <a:ext cx="1234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3520439"/>
            <a:ext cx="1234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520439"/>
            <a:ext cx="1234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520439"/>
            <a:ext cx="34747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Multilingual 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06240"/>
            <a:ext cx="274320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XLM-RoBERTa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4206240"/>
            <a:ext cx="123444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4206240"/>
            <a:ext cx="123444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4206240"/>
            <a:ext cx="123444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4206240"/>
            <a:ext cx="123444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4206240"/>
            <a:ext cx="3474720" cy="685800"/>
          </a:xfrm>
          <a:prstGeom prst="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Transformer baseline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892040"/>
            <a:ext cx="27432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Proposed XLM-R + confidence handling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4892040"/>
            <a:ext cx="1234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59" y="4892040"/>
            <a:ext cx="1234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0" y="4892040"/>
            <a:ext cx="1234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4892040"/>
            <a:ext cx="1234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TBD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80" y="4892040"/>
            <a:ext cx="34747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D3A"/>
                </a:solidFill>
              </a:defRPr>
            </a:pPr>
            <a:r>
              <a:t>Expected focus of comparison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943" y="5874984"/>
            <a:ext cx="112330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Observation: report not only the best score, but also language-wise performance, category confusion, low-confidence cases, and computational cost.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9974" y="347472"/>
            <a:ext cx="747286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Comparative Study — Existing vs Proposed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2560320" cy="448056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261872"/>
            <a:ext cx="218213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Existing: TF-IDF + SVM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709928"/>
            <a:ext cx="2194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A"/>
                </a:solidFill>
              </a:defRPr>
            </a:pPr>
            <a:r>
              <a:t>Fast and simple.</a:t>
            </a:r>
            <a:br/>
            <a:br/>
            <a:r>
              <a:t>Weakness:</a:t>
            </a:r>
            <a:br/>
            <a:r>
              <a:t>• Limited contextual semantics</a:t>
            </a:r>
            <a:br/>
            <a:r>
              <a:t>• Weak cross-lingual transfer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143000"/>
            <a:ext cx="2560320" cy="448056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1261872"/>
            <a:ext cx="161961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Existing: </a:t>
            </a:r>
            <a:r>
              <a:rPr dirty="0" err="1">
                <a:solidFill>
                  <a:schemeClr val="tx2"/>
                </a:solidFill>
              </a:rPr>
              <a:t>mBERT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47288" y="1709928"/>
            <a:ext cx="2194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A"/>
                </a:solidFill>
              </a:defRPr>
            </a:pPr>
            <a:r>
              <a:t>Multilingual transformer.</a:t>
            </a:r>
            <a:br/>
            <a:br/>
            <a:r>
              <a:t>Weakness:</a:t>
            </a:r>
            <a:br/>
            <a:r>
              <a:t>• Performance can vary by language/task</a:t>
            </a:r>
            <a:br/>
            <a:r>
              <a:t>• Requires fine-tuning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143000"/>
            <a:ext cx="2560320" cy="448056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0488" y="1261872"/>
            <a:ext cx="158004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Existing: XLM-R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1709928"/>
            <a:ext cx="2194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A"/>
                </a:solidFill>
              </a:defRPr>
            </a:pPr>
            <a:r>
              <a:t>Strong multilingual representation.</a:t>
            </a:r>
            <a:br/>
            <a:br/>
            <a:r>
              <a:t>Weakness:</a:t>
            </a:r>
            <a:br/>
            <a:r>
              <a:t>• Computational cost</a:t>
            </a:r>
            <a:br/>
            <a:r>
              <a:t>• Domain / language mismatch can remain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143000"/>
            <a:ext cx="2926080" cy="448056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33688" y="1261872"/>
            <a:ext cx="233275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Proposed enhancement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1709928"/>
            <a:ext cx="2560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A"/>
                </a:solidFill>
              </a:defRPr>
            </a:pPr>
            <a:r>
              <a:t>XLM-R + language-aware preprocessing + confidence-based review + systematic baseline comparison.</a:t>
            </a:r>
            <a:br/>
            <a:br/>
            <a:r>
              <a:t>Success criterion:</a:t>
            </a:r>
            <a:br/>
            <a:r>
              <a:t>Show measurable improvement or better reliability, not merely a different implementation.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27122" y="347472"/>
            <a:ext cx="761016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Conclusion, Future Work &amp;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349240" cy="452628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216152"/>
            <a:ext cx="335598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Conclusion / Expected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64207"/>
            <a:ext cx="49834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A"/>
                </a:solidFill>
              </a:defRPr>
            </a:pPr>
            <a:r>
              <a:rPr dirty="0"/>
              <a:t>The project is positioned as an enhancement rather than a simple reproduction: existing multilingual classifiers are reviewed, their limitations motivate a research gap, and the proposed framework adds language-aware processing, confidence handling and comparative evaluation.</a:t>
            </a:r>
            <a:br>
              <a:rPr dirty="0"/>
            </a:br>
            <a:br>
              <a:rPr dirty="0"/>
            </a:br>
            <a:r>
              <a:rPr dirty="0"/>
              <a:t>Final contribution must be justified by measured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097280"/>
            <a:ext cx="5577840" cy="4526280"/>
          </a:xfrm>
          <a:prstGeom prst="roundRect">
            <a:avLst/>
          </a:prstGeom>
          <a:solidFill>
            <a:srgbClr val="EFF4F9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1216152"/>
            <a:ext cx="478663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052"/>
                </a:solidFill>
              </a:defRPr>
            </a:pPr>
            <a:r>
              <a:rPr dirty="0">
                <a:solidFill>
                  <a:schemeClr val="tx2"/>
                </a:solidFill>
              </a:rPr>
              <a:t>Selected references used to build the research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664207"/>
            <a:ext cx="52120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</a:defRPr>
            </a:pPr>
            <a:r>
              <a:rPr sz="1400" dirty="0"/>
              <a:t>[1] </a:t>
            </a:r>
            <a:r>
              <a:rPr sz="1400" dirty="0" err="1"/>
              <a:t>Pelicon</a:t>
            </a:r>
            <a:r>
              <a:rPr sz="1400" dirty="0"/>
              <a:t> et al., “Zero-Shot Learning for Cross-Lingual News Sentiment Classification,” Applied Sciences, 2020.</a:t>
            </a:r>
            <a:br>
              <a:rPr sz="1400" dirty="0"/>
            </a:br>
            <a:r>
              <a:rPr sz="1400" dirty="0"/>
              <a:t>[2] Wu et al., “</a:t>
            </a:r>
            <a:r>
              <a:rPr sz="1400" dirty="0" err="1"/>
              <a:t>SheffieldVeraAI</a:t>
            </a:r>
            <a:r>
              <a:rPr sz="1400" dirty="0"/>
              <a:t> at SemEval-2023 Task 3,” ACL, 2023.</a:t>
            </a:r>
            <a:br>
              <a:rPr sz="1400" dirty="0"/>
            </a:br>
            <a:r>
              <a:rPr sz="1400" dirty="0"/>
              <a:t>[3] </a:t>
            </a:r>
            <a:r>
              <a:rPr sz="1400" dirty="0" err="1"/>
              <a:t>Wiriyathammabhum</a:t>
            </a:r>
            <a:r>
              <a:rPr sz="1400" dirty="0"/>
              <a:t>, “</a:t>
            </a:r>
            <a:r>
              <a:rPr sz="1400" dirty="0" err="1"/>
              <a:t>ClassBases</a:t>
            </a:r>
            <a:r>
              <a:rPr sz="1400" dirty="0"/>
              <a:t> at CASE-2022,” ACL, 2022.</a:t>
            </a:r>
            <a:br>
              <a:rPr sz="1400" dirty="0"/>
            </a:br>
            <a:r>
              <a:rPr sz="1400" dirty="0"/>
              <a:t>[4] Kuzman &amp; </a:t>
            </a:r>
            <a:r>
              <a:rPr sz="1400" dirty="0" err="1"/>
              <a:t>Ljubešić</a:t>
            </a:r>
            <a:r>
              <a:rPr sz="1400" dirty="0"/>
              <a:t>, “LLM Teacher-Student Framework for Text Classification With No Manually Annotated Data,” 2024/2025.</a:t>
            </a:r>
            <a:br>
              <a:rPr sz="1400" dirty="0"/>
            </a:br>
            <a:r>
              <a:rPr sz="1400" dirty="0"/>
              <a:t>[5] Current project datasets: AG News and BBC News; XLM-</a:t>
            </a:r>
            <a:r>
              <a:rPr sz="1400" dirty="0" err="1"/>
              <a:t>RoBERTa</a:t>
            </a:r>
            <a:r>
              <a:rPr sz="1400" dirty="0"/>
              <a:t>-based pipeline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481" y="5806440"/>
            <a:ext cx="108119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>
                <a:solidFill>
                  <a:srgbClr val="183052"/>
                </a:solidFill>
              </a:defRPr>
            </a:pPr>
            <a:r>
              <a:rPr sz="1400" b="1" dirty="0"/>
              <a:t>Future work: add real multilingual datasets, test Indian-language/code-mixed news, optimize inference, and complete statistical/error analysis.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1140</Words>
  <Application>Microsoft Office PowerPoint</Application>
  <PresentationFormat>Widescreen</PresentationFormat>
  <Paragraphs>150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Office Theme</vt:lpstr>
      <vt:lpstr> A Project Review Meeting    on AI-Based Multilingual News Categorization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Work — Framework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 Siddhartha</dc:creator>
  <cp:keywords/>
  <dc:description>generated using python-pptx</dc:description>
  <cp:lastModifiedBy>Ch Siddhartha</cp:lastModifiedBy>
  <cp:revision>3</cp:revision>
  <dcterms:created xsi:type="dcterms:W3CDTF">2013-01-27T09:14:16Z</dcterms:created>
  <dcterms:modified xsi:type="dcterms:W3CDTF">2026-08-19T05:35:08Z</dcterms:modified>
  <cp:category/>
</cp:coreProperties>
</file>