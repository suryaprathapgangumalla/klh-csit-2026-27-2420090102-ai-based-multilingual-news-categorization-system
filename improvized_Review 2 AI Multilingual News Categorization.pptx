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69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850" y="6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9/23/2026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E7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85800" y="1234440"/>
            <a:ext cx="7772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192D4B"/>
                </a:solidFill>
                <a:latin typeface="Aptos"/>
              </a:defRPr>
            </a:pPr>
            <a:r>
              <a:t>AI-BASED MULTILINGUAL NEWS</a:t>
            </a:r>
            <a:br/>
            <a:r>
              <a:t>CATEGORIZATION SYSTEM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706290" y="2171700"/>
            <a:ext cx="5486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900" b="1">
                <a:solidFill>
                  <a:srgbClr val="1E78DC"/>
                </a:solidFill>
                <a:latin typeface="Aptos"/>
              </a:defRPr>
            </a:pPr>
            <a:r>
              <a:rPr dirty="0"/>
              <a:t>Review-2 Project Presentation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9472" y="2583180"/>
            <a:ext cx="4572000" cy="115416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55697D"/>
                </a:solidFill>
                <a:latin typeface="Aptos"/>
              </a:defRPr>
            </a:pPr>
            <a:r>
              <a:rPr sz="2000" dirty="0"/>
              <a:t>Mini Hackathon – 1 | Team 5</a:t>
            </a:r>
            <a:endParaRPr lang="en-US" sz="2000" dirty="0"/>
          </a:p>
          <a:p>
            <a:pPr algn="ctr">
              <a:defRPr sz="1800"/>
            </a:pPr>
            <a:r>
              <a:rPr lang="en-US" dirty="0">
                <a:latin typeface="Aptos" panose="020B0004020202020204" pitchFamily="34" charset="0"/>
              </a:rPr>
              <a:t>Course Coordinator: Dr. K. </a:t>
            </a:r>
            <a:r>
              <a:rPr lang="en-US" dirty="0" err="1">
                <a:latin typeface="Aptos" panose="020B0004020202020204" pitchFamily="34" charset="0"/>
              </a:rPr>
              <a:t>Swanthana</a:t>
            </a:r>
            <a:endParaRPr lang="en-US" dirty="0">
              <a:latin typeface="Aptos" panose="020B0004020202020204" pitchFamily="34" charset="0"/>
            </a:endParaRPr>
          </a:p>
          <a:p>
            <a:pPr algn="ctr">
              <a:defRPr sz="1800"/>
            </a:pPr>
            <a:r>
              <a:rPr lang="en-US" dirty="0">
                <a:latin typeface="Aptos" panose="020B0004020202020204" pitchFamily="34" charset="0"/>
              </a:rPr>
              <a:t>Course Code: 24ALT3101</a:t>
            </a:r>
          </a:p>
          <a:p>
            <a:pPr algn="ctr">
              <a:defRPr sz="1300" b="0">
                <a:solidFill>
                  <a:srgbClr val="55697D"/>
                </a:solidFill>
                <a:latin typeface="Aptos"/>
              </a:defRPr>
            </a:pPr>
            <a:endParaRPr dirty="0"/>
          </a:p>
        </p:txBody>
      </p:sp>
      <p:sp>
        <p:nvSpPr>
          <p:cNvPr id="6" name="TextBox 5"/>
          <p:cNvSpPr txBox="1"/>
          <p:nvPr/>
        </p:nvSpPr>
        <p:spPr>
          <a:xfrm>
            <a:off x="713232" y="3794760"/>
            <a:ext cx="7772400" cy="12557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80000"/>
              </a:lnSpc>
              <a:defRPr/>
            </a:pPr>
            <a:r>
              <a:rPr lang="en-US" dirty="0">
                <a:solidFill>
                  <a:srgbClr val="0D0D0D"/>
                </a:solidFill>
                <a:latin typeface="Aptos" panose="020B0004020202020204" pitchFamily="34" charset="0"/>
                <a:cs typeface="Times New Roman" pitchFamily="18" charset="0"/>
              </a:rPr>
              <a:t>Name: </a:t>
            </a:r>
            <a:r>
              <a:rPr lang="en-IN" dirty="0">
                <a:solidFill>
                  <a:srgbClr val="0D0D0D"/>
                </a:solidFill>
                <a:latin typeface="Aptos" panose="020B0004020202020204" pitchFamily="34" charset="0"/>
                <a:cs typeface="Times New Roman" pitchFamily="18" charset="0"/>
              </a:rPr>
              <a:t>G. Surya</a:t>
            </a:r>
            <a:r>
              <a:rPr lang="en-US" dirty="0">
                <a:solidFill>
                  <a:srgbClr val="0D0D0D"/>
                </a:solidFill>
                <a:latin typeface="Aptos" panose="020B0004020202020204" pitchFamily="34" charset="0"/>
                <a:cs typeface="Times New Roman" pitchFamily="18" charset="0"/>
              </a:rPr>
              <a:t>                                        Roll: </a:t>
            </a:r>
            <a:r>
              <a:rPr lang="en-IN" dirty="0">
                <a:solidFill>
                  <a:srgbClr val="0D0D0D"/>
                </a:solidFill>
                <a:latin typeface="Aptos" panose="020B0004020202020204" pitchFamily="34" charset="0"/>
                <a:cs typeface="Times New Roman" pitchFamily="18" charset="0"/>
              </a:rPr>
              <a:t>2420090102</a:t>
            </a:r>
            <a:endParaRPr lang="en-US" dirty="0">
              <a:solidFill>
                <a:srgbClr val="0D0D0D"/>
              </a:solidFill>
              <a:latin typeface="Aptos" panose="020B0004020202020204" pitchFamily="34" charset="0"/>
              <a:cs typeface="Times New Roman" pitchFamily="18" charset="0"/>
            </a:endParaRPr>
          </a:p>
          <a:p>
            <a:pPr algn="just">
              <a:lnSpc>
                <a:spcPct val="80000"/>
              </a:lnSpc>
              <a:defRPr/>
            </a:pPr>
            <a:r>
              <a:rPr lang="en-US" dirty="0">
                <a:solidFill>
                  <a:srgbClr val="0D0D0D"/>
                </a:solidFill>
                <a:latin typeface="Aptos" panose="020B0004020202020204" pitchFamily="34" charset="0"/>
                <a:cs typeface="Times New Roman" pitchFamily="18" charset="0"/>
              </a:rPr>
              <a:t>Name: </a:t>
            </a:r>
            <a:r>
              <a:rPr lang="en-IN" dirty="0">
                <a:solidFill>
                  <a:srgbClr val="0D0D0D"/>
                </a:solidFill>
                <a:latin typeface="Aptos" panose="020B0004020202020204" pitchFamily="34" charset="0"/>
                <a:cs typeface="Times New Roman" pitchFamily="18" charset="0"/>
              </a:rPr>
              <a:t>Ch. Siddhartha</a:t>
            </a:r>
            <a:r>
              <a:rPr lang="en-US" dirty="0">
                <a:solidFill>
                  <a:srgbClr val="0D0D0D"/>
                </a:solidFill>
                <a:latin typeface="Aptos" panose="020B0004020202020204" pitchFamily="34" charset="0"/>
                <a:cs typeface="Times New Roman" pitchFamily="18" charset="0"/>
              </a:rPr>
              <a:t>                          Roll: 2420090015</a:t>
            </a:r>
          </a:p>
          <a:p>
            <a:pPr algn="just">
              <a:lnSpc>
                <a:spcPct val="80000"/>
              </a:lnSpc>
              <a:defRPr/>
            </a:pPr>
            <a:r>
              <a:rPr lang="en-US" dirty="0">
                <a:solidFill>
                  <a:srgbClr val="0D0D0D"/>
                </a:solidFill>
                <a:latin typeface="Aptos" panose="020B0004020202020204" pitchFamily="34" charset="0"/>
                <a:cs typeface="Times New Roman" pitchFamily="18" charset="0"/>
              </a:rPr>
              <a:t>Name: </a:t>
            </a:r>
            <a:r>
              <a:rPr lang="en-IN" dirty="0">
                <a:solidFill>
                  <a:srgbClr val="0D0D0D"/>
                </a:solidFill>
                <a:latin typeface="Aptos" panose="020B0004020202020204" pitchFamily="34" charset="0"/>
                <a:cs typeface="Times New Roman" pitchFamily="18" charset="0"/>
              </a:rPr>
              <a:t>Y.V.  Likhith</a:t>
            </a:r>
            <a:r>
              <a:rPr lang="en-US" dirty="0">
                <a:solidFill>
                  <a:srgbClr val="0D0D0D"/>
                </a:solidFill>
                <a:latin typeface="Aptos" panose="020B0004020202020204" pitchFamily="34" charset="0"/>
                <a:cs typeface="Times New Roman" pitchFamily="18" charset="0"/>
              </a:rPr>
              <a:t>                                   Roll: </a:t>
            </a:r>
            <a:r>
              <a:rPr lang="en-IN" dirty="0">
                <a:solidFill>
                  <a:srgbClr val="0D0D0D"/>
                </a:solidFill>
                <a:latin typeface="Aptos" panose="020B0004020202020204" pitchFamily="34" charset="0"/>
                <a:cs typeface="Times New Roman" pitchFamily="18" charset="0"/>
              </a:rPr>
              <a:t>2420090142</a:t>
            </a:r>
            <a:endParaRPr lang="en-US" dirty="0">
              <a:solidFill>
                <a:srgbClr val="0D0D0D"/>
              </a:solidFill>
              <a:latin typeface="Aptos" panose="020B0004020202020204" pitchFamily="34" charset="0"/>
              <a:cs typeface="Times New Roman" pitchFamily="18" charset="0"/>
            </a:endParaRPr>
          </a:p>
          <a:p>
            <a:pPr algn="just">
              <a:lnSpc>
                <a:spcPct val="80000"/>
              </a:lnSpc>
              <a:defRPr/>
            </a:pPr>
            <a:r>
              <a:rPr lang="en-US" dirty="0">
                <a:solidFill>
                  <a:srgbClr val="0D0D0D"/>
                </a:solidFill>
                <a:latin typeface="Aptos" panose="020B0004020202020204" pitchFamily="34" charset="0"/>
                <a:cs typeface="Times New Roman" pitchFamily="18" charset="0"/>
              </a:rPr>
              <a:t>Name: </a:t>
            </a:r>
            <a:r>
              <a:rPr lang="en-IN" dirty="0">
                <a:solidFill>
                  <a:srgbClr val="0D0D0D"/>
                </a:solidFill>
                <a:latin typeface="Aptos" panose="020B0004020202020204" pitchFamily="34" charset="0"/>
                <a:cs typeface="Times New Roman" pitchFamily="18" charset="0"/>
              </a:rPr>
              <a:t>K. </a:t>
            </a:r>
            <a:r>
              <a:rPr lang="en-IN" dirty="0" err="1">
                <a:solidFill>
                  <a:srgbClr val="0D0D0D"/>
                </a:solidFill>
                <a:latin typeface="Aptos" panose="020B0004020202020204" pitchFamily="34" charset="0"/>
                <a:cs typeface="Times New Roman" pitchFamily="18" charset="0"/>
              </a:rPr>
              <a:t>Rishiwan</a:t>
            </a:r>
            <a:r>
              <a:rPr lang="en-US" dirty="0">
                <a:solidFill>
                  <a:srgbClr val="0D0D0D"/>
                </a:solidFill>
                <a:latin typeface="Aptos" panose="020B0004020202020204" pitchFamily="34" charset="0"/>
                <a:cs typeface="Times New Roman" pitchFamily="18" charset="0"/>
              </a:rPr>
              <a:t>                                  Roll: 2420030762</a:t>
            </a:r>
          </a:p>
          <a:p>
            <a:pPr algn="just">
              <a:lnSpc>
                <a:spcPct val="100000"/>
              </a:lnSpc>
              <a:defRPr/>
            </a:pPr>
            <a:r>
              <a:rPr lang="en-US" dirty="0">
                <a:solidFill>
                  <a:srgbClr val="0D0D0D"/>
                </a:solidFill>
                <a:latin typeface="Aptos" panose="020B0004020202020204" pitchFamily="34" charset="0"/>
                <a:cs typeface="Times New Roman" pitchFamily="18" charset="0"/>
              </a:rPr>
              <a:t>Name: </a:t>
            </a:r>
            <a:r>
              <a:rPr lang="en-IN" dirty="0" err="1">
                <a:latin typeface="Aptos" panose="020B0004020202020204" pitchFamily="34" charset="0"/>
              </a:rPr>
              <a:t>R.Sai</a:t>
            </a:r>
            <a:r>
              <a:rPr lang="en-IN" dirty="0">
                <a:latin typeface="Aptos" panose="020B0004020202020204" pitchFamily="34" charset="0"/>
              </a:rPr>
              <a:t> </a:t>
            </a:r>
            <a:r>
              <a:rPr lang="en-IN" dirty="0" err="1">
                <a:latin typeface="Aptos" panose="020B0004020202020204" pitchFamily="34" charset="0"/>
              </a:rPr>
              <a:t>Sidhardha</a:t>
            </a:r>
            <a:r>
              <a:rPr lang="en-IN" dirty="0">
                <a:latin typeface="Aptos" panose="020B0004020202020204" pitchFamily="34" charset="0"/>
              </a:rPr>
              <a:t>			     </a:t>
            </a:r>
            <a:r>
              <a:rPr lang="en-US" dirty="0">
                <a:solidFill>
                  <a:srgbClr val="0D0D0D"/>
                </a:solidFill>
                <a:latin typeface="Aptos" panose="020B0004020202020204" pitchFamily="34" charset="0"/>
                <a:cs typeface="Times New Roman" pitchFamily="18" charset="0"/>
              </a:rPr>
              <a:t>Roll:</a:t>
            </a:r>
            <a:r>
              <a:rPr lang="en-IN" dirty="0">
                <a:latin typeface="Aptos" panose="020B0004020202020204" pitchFamily="34" charset="0"/>
              </a:rPr>
              <a:t>2400032486</a:t>
            </a:r>
            <a:endParaRPr lang="en-US" dirty="0">
              <a:solidFill>
                <a:srgbClr val="0D0D0D"/>
              </a:solidFill>
              <a:latin typeface="Aptos" panose="020B0004020202020204" pitchFamily="34" charset="0"/>
              <a:cs typeface="Times New Roman" pitchFamily="18" charset="0"/>
            </a:endParaRPr>
          </a:p>
        </p:txBody>
      </p:sp>
      <p:sp>
        <p:nvSpPr>
          <p:cNvPr id="7" name="Rounded Rectangle 6"/>
          <p:cNvSpPr/>
          <p:nvPr/>
        </p:nvSpPr>
        <p:spPr>
          <a:xfrm>
            <a:off x="8412480" y="1371600"/>
            <a:ext cx="2834640" cy="3383280"/>
          </a:xfrm>
          <a:prstGeom prst="roundRect">
            <a:avLst/>
          </a:prstGeom>
          <a:solidFill>
            <a:srgbClr val="F5F9FD"/>
          </a:solidFill>
          <a:ln w="19050">
            <a:solidFill>
              <a:srgbClr val="1E7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577072" y="1508760"/>
            <a:ext cx="2505456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1E78DC"/>
                </a:solidFill>
                <a:latin typeface="Aptos"/>
              </a:defRPr>
            </a:pPr>
            <a:r>
              <a:t>REVIEW-2 FOCUS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577072" y="1901952"/>
            <a:ext cx="2505456" cy="2724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50" b="0">
                <a:solidFill>
                  <a:srgbClr val="1E2837"/>
                </a:solidFill>
                <a:latin typeface="Aptos"/>
              </a:defRPr>
            </a:pPr>
            <a:r>
              <a:t>Improve the project by introducing a more project-specific text-analysis approach instead of directly using the main models from the reviewed papers.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6510528"/>
            <a:ext cx="64008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50" b="0">
                <a:solidFill>
                  <a:srgbClr val="55697D"/>
                </a:solidFill>
                <a:latin typeface="Aptos"/>
              </a:defRPr>
            </a:pPr>
            <a:r>
              <a:t>Applied Machine Learning for Text Analysis  |  Review-2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064240" y="6492240"/>
            <a:ext cx="457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50" b="0">
                <a:solidFill>
                  <a:srgbClr val="55697D"/>
                </a:solidFill>
                <a:latin typeface="Aptos"/>
              </a:defRPr>
            </a:pPr>
            <a:r>
              <a:t>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F8749C5D-4447-B0FD-9299-407EA36B7EA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2500" y="0"/>
            <a:ext cx="10287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075574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E7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47472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700" b="1">
                <a:solidFill>
                  <a:srgbClr val="192D4B"/>
                </a:solidFill>
                <a:latin typeface="Aptos"/>
              </a:defRPr>
            </a:pPr>
            <a:r>
              <a:t>1. Brief Review-1 Context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859536"/>
            <a:ext cx="10881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50" b="0">
                <a:solidFill>
                  <a:srgbClr val="55697D"/>
                </a:solidFill>
                <a:latin typeface="Aptos"/>
              </a:defRPr>
            </a:pPr>
            <a:r>
              <a:t>Only the background needed to understand what is changing in Review-2.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1325880"/>
            <a:ext cx="5303520" cy="3611880"/>
          </a:xfrm>
          <a:prstGeom prst="roundRect">
            <a:avLst/>
          </a:prstGeom>
          <a:solidFill>
            <a:srgbClr val="F5F9FD"/>
          </a:solidFill>
          <a:ln w="19050">
            <a:solidFill>
              <a:srgbClr val="1E7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50392" y="1463039"/>
            <a:ext cx="4974336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1E78DC"/>
                </a:solidFill>
                <a:latin typeface="Aptos"/>
              </a:defRPr>
            </a:pPr>
            <a:r>
              <a:t>Review-1 Baseline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0392" y="1856231"/>
            <a:ext cx="4974336" cy="29535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50" b="0">
                <a:solidFill>
                  <a:srgbClr val="1E2837"/>
                </a:solidFill>
                <a:latin typeface="Aptos"/>
              </a:defRPr>
            </a:pPr>
            <a:r>
              <a:t>The implemented pipeline used:</a:t>
            </a:r>
            <a:br/>
            <a:br/>
            <a:r>
              <a:t>TF-IDF → Chi-square feature selection → Linear SVM</a:t>
            </a:r>
            <a:br/>
            <a:br/>
            <a:r>
              <a:t>On the 289-sample held-out test set:</a:t>
            </a:r>
            <a:br/>
            <a:r>
              <a:t>Accuracy: 80.28%</a:t>
            </a:r>
            <a:br/>
            <a:r>
              <a:t>Weighted F1: 79.80%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325880"/>
            <a:ext cx="5303520" cy="3611880"/>
          </a:xfrm>
          <a:prstGeom prst="roundRect">
            <a:avLst/>
          </a:prstGeom>
          <a:solidFill>
            <a:srgbClr val="F5F9FD"/>
          </a:solidFill>
          <a:ln w="19050">
            <a:solidFill>
              <a:srgbClr val="F591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382512" y="1463039"/>
            <a:ext cx="4974336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59123"/>
                </a:solidFill>
                <a:latin typeface="Aptos"/>
              </a:defRPr>
            </a:pPr>
            <a:r>
              <a:t>Why Review-2 Changes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82512" y="1856231"/>
            <a:ext cx="4974336" cy="29535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50" b="0">
                <a:solidFill>
                  <a:srgbClr val="1E2837"/>
                </a:solidFill>
                <a:latin typeface="Aptos"/>
              </a:defRPr>
            </a:pPr>
            <a:r>
              <a:t>The project literature also covered BERT, mBERT, XLM-R and multilingual news datasets.</a:t>
            </a:r>
            <a:br/>
            <a:br/>
            <a:r>
              <a:t>The mentor feedback is to move beyond simply reusing these established model choices and make the project more distinct.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5349240"/>
            <a:ext cx="10241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E14646"/>
                </a:solidFill>
                <a:latin typeface="Aptos"/>
              </a:defRPr>
            </a:pPr>
            <a:r>
              <a:t>Review-1 results remain a BASELINE. Review-2 focuses on the new methodology.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4360" y="6510528"/>
            <a:ext cx="64008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50" b="0">
                <a:solidFill>
                  <a:srgbClr val="55697D"/>
                </a:solidFill>
                <a:latin typeface="Aptos"/>
              </a:defRPr>
            </a:pPr>
            <a:r>
              <a:t>Applied Machine Learning for Text Analysis  |  Review-2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064240" y="6492240"/>
            <a:ext cx="457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50" b="0">
                <a:solidFill>
                  <a:srgbClr val="55697D"/>
                </a:solidFill>
                <a:latin typeface="Aptos"/>
              </a:defRPr>
            </a:pPr>
            <a:r>
              <a:t>2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E7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47472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700" b="1">
                <a:solidFill>
                  <a:srgbClr val="192D4B"/>
                </a:solidFill>
                <a:latin typeface="Aptos"/>
              </a:defRPr>
            </a:pPr>
            <a:r>
              <a:t>2. What Is New in Review-2?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859536"/>
            <a:ext cx="10881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50" b="0">
                <a:solidFill>
                  <a:srgbClr val="55697D"/>
                </a:solidFill>
                <a:latin typeface="Aptos"/>
              </a:defRPr>
            </a:pPr>
            <a:r>
              <a:t>A small but important distinction from the existing research-paper approaches.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1325880"/>
            <a:ext cx="3429000" cy="3566160"/>
          </a:xfrm>
          <a:prstGeom prst="roundRect">
            <a:avLst/>
          </a:prstGeom>
          <a:solidFill>
            <a:srgbClr val="F5F9FD"/>
          </a:solidFill>
          <a:ln w="19050">
            <a:solidFill>
              <a:srgbClr val="1E7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50392" y="1463039"/>
            <a:ext cx="3099816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1E78DC"/>
                </a:solidFill>
                <a:latin typeface="Aptos"/>
              </a:defRPr>
            </a:pPr>
            <a:r>
              <a:t>Existing Direction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0392" y="1856231"/>
            <a:ext cx="3099816" cy="290779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50" b="0">
                <a:solidFill>
                  <a:srgbClr val="1E2837"/>
                </a:solidFill>
                <a:latin typeface="Aptos"/>
              </a:defRPr>
            </a:pPr>
            <a:r>
              <a:t>Traditional text classification</a:t>
            </a:r>
            <a:br/>
            <a:br/>
            <a:r>
              <a:t>• TF-IDF + SVM</a:t>
            </a:r>
            <a:br/>
            <a:r>
              <a:t>• Transformer-based classification</a:t>
            </a:r>
            <a:br/>
            <a:r>
              <a:t>• Multilingual transformer extension</a:t>
            </a:r>
            <a:br/>
            <a:br/>
            <a:r>
              <a:t>These are established approaches discussed in the literature.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89120" y="1325880"/>
            <a:ext cx="3429000" cy="3566160"/>
          </a:xfrm>
          <a:prstGeom prst="roundRect">
            <a:avLst/>
          </a:prstGeom>
          <a:solidFill>
            <a:srgbClr val="F5F9FD"/>
          </a:solidFill>
          <a:ln w="19050">
            <a:solidFill>
              <a:srgbClr val="1EAA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4553712" y="1463039"/>
            <a:ext cx="3099816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1EAA64"/>
                </a:solidFill>
                <a:latin typeface="Aptos"/>
              </a:defRPr>
            </a:pPr>
            <a:r>
              <a:t>Our Review-2 Direction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53712" y="1856231"/>
            <a:ext cx="3099816" cy="290779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50" b="0">
                <a:solidFill>
                  <a:srgbClr val="1E2837"/>
                </a:solidFill>
                <a:latin typeface="Aptos"/>
              </a:defRPr>
            </a:pPr>
            <a:r>
              <a:t>Adaptive News Fingerprint Engine</a:t>
            </a:r>
            <a:br/>
            <a:br/>
            <a:r>
              <a:t>• Multiple text signals</a:t>
            </a:r>
            <a:br/>
            <a:r>
              <a:t>• Category-specific fingerprints</a:t>
            </a:r>
            <a:br/>
            <a:r>
              <a:t>• Adaptive evidence weighting</a:t>
            </a:r>
            <a:br/>
            <a:r>
              <a:t>• REVIEW for uncertain predictions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092440" y="1325880"/>
            <a:ext cx="3429000" cy="3566160"/>
          </a:xfrm>
          <a:prstGeom prst="roundRect">
            <a:avLst/>
          </a:prstGeom>
          <a:solidFill>
            <a:srgbClr val="F5F9FD"/>
          </a:solidFill>
          <a:ln w="19050">
            <a:solidFill>
              <a:srgbClr val="F591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8257031" y="1463039"/>
            <a:ext cx="3099816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59123"/>
                </a:solidFill>
                <a:latin typeface="Aptos"/>
              </a:defRPr>
            </a:pPr>
            <a:r>
              <a:t>Why It Is Different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57031" y="1856231"/>
            <a:ext cx="3099816" cy="290779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50" b="0">
                <a:solidFill>
                  <a:srgbClr val="1E2837"/>
                </a:solidFill>
                <a:latin typeface="Aptos"/>
              </a:defRPr>
            </a:pPr>
            <a:r>
              <a:t>The proposed contribution is the decision workflow itself:</a:t>
            </a:r>
            <a:br/>
            <a:br/>
            <a:r>
              <a:t>combine interpretable evidence → score categories → measure uncertainty → explain the decision.</a:t>
            </a:r>
            <a:br/>
            <a:br/>
            <a:r>
              <a:t>It is not presented as a new universal ML algorithm.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5257800"/>
            <a:ext cx="10241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700" b="1">
                <a:solidFill>
                  <a:srgbClr val="1E78DC"/>
                </a:solidFill>
                <a:latin typeface="Aptos"/>
              </a:defRPr>
            </a:pPr>
            <a:r>
              <a:t>The novelty is the PROJECT-SPECIFIC METHOD + EVIDENCE WORKFLOW.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94360" y="6510528"/>
            <a:ext cx="64008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50" b="0">
                <a:solidFill>
                  <a:srgbClr val="55697D"/>
                </a:solidFill>
                <a:latin typeface="Aptos"/>
              </a:defRPr>
            </a:pPr>
            <a:r>
              <a:t>Applied Machine Learning for Text Analysis  |  Review-2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064240" y="6492240"/>
            <a:ext cx="457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50" b="0">
                <a:solidFill>
                  <a:srgbClr val="55697D"/>
                </a:solidFill>
                <a:latin typeface="Aptos"/>
              </a:defRPr>
            </a:pPr>
            <a:r>
              <a:t>3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E7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47472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700" b="1">
                <a:solidFill>
                  <a:srgbClr val="192D4B"/>
                </a:solidFill>
                <a:latin typeface="Aptos"/>
              </a:defRPr>
            </a:pPr>
            <a:r>
              <a:t>3. Proposed System: Adaptive News Fingerprint Engine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859536"/>
            <a:ext cx="10881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50" b="0">
                <a:solidFill>
                  <a:srgbClr val="55697D"/>
                </a:solidFill>
                <a:latin typeface="Aptos"/>
              </a:defRPr>
            </a:pPr>
            <a:r>
              <a:t>ANFE is the proposed Review-2 methodology.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2057400"/>
            <a:ext cx="1783080" cy="1325880"/>
          </a:xfrm>
          <a:prstGeom prst="roundRect">
            <a:avLst/>
          </a:prstGeom>
          <a:solidFill>
            <a:srgbClr val="1E7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77240" y="2359152"/>
            <a:ext cx="1600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FFFFFF"/>
                </a:solidFill>
                <a:latin typeface="Aptos"/>
              </a:defRPr>
            </a:pPr>
            <a:r>
              <a:t>News Article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532888" y="2404872"/>
            <a:ext cx="320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300" b="1">
                <a:solidFill>
                  <a:srgbClr val="192D4B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880360" y="2057400"/>
            <a:ext cx="1783080" cy="1325880"/>
          </a:xfrm>
          <a:prstGeom prst="roundRect">
            <a:avLst/>
          </a:prstGeom>
          <a:solidFill>
            <a:srgbClr val="00AA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2971800" y="2359152"/>
            <a:ext cx="1600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FFFFFF"/>
                </a:solidFill>
                <a:latin typeface="Aptos"/>
              </a:defRPr>
            </a:pPr>
            <a:r>
              <a:t>Text Signals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27448" y="2404872"/>
            <a:ext cx="320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300" b="1">
                <a:solidFill>
                  <a:srgbClr val="192D4B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074920" y="2057400"/>
            <a:ext cx="1783080" cy="1325880"/>
          </a:xfrm>
          <a:prstGeom prst="roundRect">
            <a:avLst/>
          </a:prstGeom>
          <a:solidFill>
            <a:srgbClr val="1EAA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5166359" y="2359152"/>
            <a:ext cx="1600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FFFFFF"/>
                </a:solidFill>
                <a:latin typeface="Aptos"/>
              </a:defRPr>
            </a:pPr>
            <a:r>
              <a:t>Category</a:t>
            </a:r>
            <a:br/>
            <a:r>
              <a:t>Fingerprints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22008" y="2404872"/>
            <a:ext cx="320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300" b="1">
                <a:solidFill>
                  <a:srgbClr val="192D4B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269480" y="2057400"/>
            <a:ext cx="1783080" cy="1325880"/>
          </a:xfrm>
          <a:prstGeom prst="roundRect">
            <a:avLst/>
          </a:prstGeom>
          <a:solidFill>
            <a:srgbClr val="F591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7360920" y="2359152"/>
            <a:ext cx="1600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FFFFFF"/>
                </a:solidFill>
                <a:latin typeface="Aptos"/>
              </a:defRPr>
            </a:pPr>
            <a:r>
              <a:t>Adaptive</a:t>
            </a:r>
            <a:br/>
            <a:r>
              <a:t>Scoring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16568" y="2404872"/>
            <a:ext cx="320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300" b="1">
                <a:solidFill>
                  <a:srgbClr val="192D4B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464040" y="2057400"/>
            <a:ext cx="1783080" cy="1325880"/>
          </a:xfrm>
          <a:prstGeom prst="roundRect">
            <a:avLst/>
          </a:prstGeom>
          <a:solidFill>
            <a:srgbClr val="E146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9555480" y="2359152"/>
            <a:ext cx="1600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FFFFFF"/>
                </a:solidFill>
                <a:latin typeface="Aptos"/>
              </a:defRPr>
            </a:pPr>
            <a:r>
              <a:t>Prediction +</a:t>
            </a:r>
            <a:br/>
            <a:r>
              <a:t>Evidence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14400" y="3977639"/>
            <a:ext cx="3017520" cy="1143000"/>
          </a:xfrm>
          <a:prstGeom prst="roundRect">
            <a:avLst/>
          </a:prstGeom>
          <a:solidFill>
            <a:srgbClr val="F5F9FD"/>
          </a:solidFill>
          <a:ln w="19050">
            <a:solidFill>
              <a:srgbClr val="00AA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1078992" y="4114800"/>
            <a:ext cx="2688336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00AABE"/>
                </a:solidFill>
                <a:latin typeface="Aptos"/>
              </a:defRPr>
            </a:pPr>
            <a:r>
              <a:t>Signal 1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78992" y="4507992"/>
            <a:ext cx="2688336" cy="484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50" b="0">
                <a:solidFill>
                  <a:srgbClr val="1E2837"/>
                </a:solidFill>
                <a:latin typeface="Aptos"/>
              </a:defRPr>
            </a:pPr>
            <a:r>
              <a:t>Important words and phrases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526280" y="3977639"/>
            <a:ext cx="3017520" cy="1143000"/>
          </a:xfrm>
          <a:prstGeom prst="roundRect">
            <a:avLst/>
          </a:prstGeom>
          <a:solidFill>
            <a:srgbClr val="F5F9FD"/>
          </a:solidFill>
          <a:ln w="19050">
            <a:solidFill>
              <a:srgbClr val="1EAA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4690872" y="4114800"/>
            <a:ext cx="2688336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1EAA64"/>
                </a:solidFill>
                <a:latin typeface="Aptos"/>
              </a:defRPr>
            </a:pPr>
            <a:r>
              <a:t>Signal 2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690872" y="4507992"/>
            <a:ext cx="2688336" cy="484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50" b="0">
                <a:solidFill>
                  <a:srgbClr val="1E2837"/>
                </a:solidFill>
                <a:latin typeface="Aptos"/>
              </a:defRPr>
            </a:pPr>
            <a:r>
              <a:t>Entities / domain clues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138160" y="3977639"/>
            <a:ext cx="3017520" cy="1143000"/>
          </a:xfrm>
          <a:prstGeom prst="roundRect">
            <a:avLst/>
          </a:prstGeom>
          <a:solidFill>
            <a:srgbClr val="F5F9FD"/>
          </a:solidFill>
          <a:ln w="19050">
            <a:solidFill>
              <a:srgbClr val="F591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8302752" y="4114800"/>
            <a:ext cx="2688336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59123"/>
                </a:solidFill>
                <a:latin typeface="Aptos"/>
              </a:defRPr>
            </a:pPr>
            <a:r>
              <a:t>Signal 3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302752" y="4507992"/>
            <a:ext cx="2688336" cy="484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50" b="0">
                <a:solidFill>
                  <a:srgbClr val="1E2837"/>
                </a:solidFill>
                <a:latin typeface="Aptos"/>
              </a:defRPr>
            </a:pPr>
            <a:r>
              <a:t>Title-body agreement + source cues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94360" y="6510528"/>
            <a:ext cx="64008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50" b="0">
                <a:solidFill>
                  <a:srgbClr val="55697D"/>
                </a:solidFill>
                <a:latin typeface="Aptos"/>
              </a:defRPr>
            </a:pPr>
            <a:r>
              <a:t>Applied Machine Learning for Text Analysis  |  Review-2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064240" y="6492240"/>
            <a:ext cx="457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50" b="0">
                <a:solidFill>
                  <a:srgbClr val="55697D"/>
                </a:solidFill>
                <a:latin typeface="Aptos"/>
              </a:defRPr>
            </a:pPr>
            <a:r>
              <a:t>4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E7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47472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700" b="1">
                <a:solidFill>
                  <a:srgbClr val="192D4B"/>
                </a:solidFill>
                <a:latin typeface="Aptos"/>
              </a:defRPr>
            </a:pPr>
            <a:r>
              <a:t>4. Methodology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859536"/>
            <a:ext cx="10881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50" b="0">
                <a:solidFill>
                  <a:srgbClr val="55697D"/>
                </a:solidFill>
                <a:latin typeface="Aptos"/>
              </a:defRPr>
            </a:pPr>
            <a:r>
              <a:t>Step-by-step workflow planned for the new implementation.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1325880"/>
            <a:ext cx="3337560" cy="1691640"/>
          </a:xfrm>
          <a:prstGeom prst="roundRect">
            <a:avLst/>
          </a:prstGeom>
          <a:solidFill>
            <a:srgbClr val="F5F9FD"/>
          </a:solidFill>
          <a:ln w="19050">
            <a:solidFill>
              <a:srgbClr val="1E7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261871" y="1453895"/>
            <a:ext cx="3008376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1E78DC"/>
                </a:solidFill>
                <a:latin typeface="Aptos"/>
              </a:defRPr>
            </a:pPr>
            <a:r>
              <a:rPr dirty="0"/>
              <a:t>Prepare Data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0392" y="1856231"/>
            <a:ext cx="3008376" cy="10332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50" b="0">
                <a:solidFill>
                  <a:srgbClr val="1E2837"/>
                </a:solidFill>
                <a:latin typeface="Aptos"/>
              </a:defRPr>
            </a:pPr>
            <a:r>
              <a:t>Load and validate the existing NewsData records.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1463039"/>
            <a:ext cx="411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E78DC"/>
                </a:solidFill>
                <a:latin typeface="Aptos"/>
              </a:defRPr>
            </a:pPr>
            <a:r>
              <a:t>01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434840" y="1325880"/>
            <a:ext cx="3337560" cy="1691640"/>
          </a:xfrm>
          <a:prstGeom prst="roundRect">
            <a:avLst/>
          </a:prstGeom>
          <a:solidFill>
            <a:srgbClr val="F5F9FD"/>
          </a:solidFill>
          <a:ln w="19050">
            <a:solidFill>
              <a:srgbClr val="00AA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5010911" y="1452616"/>
            <a:ext cx="3008376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00AABE"/>
                </a:solidFill>
                <a:latin typeface="Aptos"/>
              </a:defRPr>
            </a:pPr>
            <a:r>
              <a:rPr dirty="0"/>
              <a:t>Extract Signals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99431" y="1856231"/>
            <a:ext cx="3008376" cy="10332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50" b="0">
                <a:solidFill>
                  <a:srgbClr val="1E2837"/>
                </a:solidFill>
                <a:latin typeface="Aptos"/>
              </a:defRPr>
            </a:pPr>
            <a:r>
              <a:t>Find useful lexical, entity and structural evidence.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17720" y="1463039"/>
            <a:ext cx="411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0AABE"/>
                </a:solidFill>
                <a:latin typeface="Aptos"/>
              </a:defRPr>
            </a:pPr>
            <a:r>
              <a:t>02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183879" y="1325880"/>
            <a:ext cx="3337560" cy="1691640"/>
          </a:xfrm>
          <a:prstGeom prst="roundRect">
            <a:avLst/>
          </a:prstGeom>
          <a:solidFill>
            <a:srgbClr val="F5F9FD"/>
          </a:solidFill>
          <a:ln w="19050">
            <a:solidFill>
              <a:srgbClr val="1EAA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8778239" y="1476755"/>
            <a:ext cx="3008376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1EAA64"/>
                </a:solidFill>
                <a:latin typeface="Aptos"/>
              </a:defRPr>
            </a:pPr>
            <a:r>
              <a:rPr dirty="0"/>
              <a:t>Build Fingerprints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48471" y="1856231"/>
            <a:ext cx="3008376" cy="10332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50" b="0">
                <a:solidFill>
                  <a:srgbClr val="1E2837"/>
                </a:solidFill>
                <a:latin typeface="Aptos"/>
              </a:defRPr>
            </a:pPr>
            <a:r>
              <a:t>Create category-specific evidence profiles.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66759" y="1463039"/>
            <a:ext cx="411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EAA64"/>
                </a:solidFill>
                <a:latin typeface="Aptos"/>
              </a:defRPr>
            </a:pPr>
            <a:r>
              <a:t>03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85800" y="3474720"/>
            <a:ext cx="3337560" cy="1691640"/>
          </a:xfrm>
          <a:prstGeom prst="roundRect">
            <a:avLst/>
          </a:prstGeom>
          <a:solidFill>
            <a:srgbClr val="F5F9FD"/>
          </a:solidFill>
          <a:ln w="19050">
            <a:solidFill>
              <a:srgbClr val="F591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1261871" y="3611879"/>
            <a:ext cx="3008376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59123"/>
                </a:solidFill>
                <a:latin typeface="Aptos"/>
              </a:defRPr>
            </a:pPr>
            <a:r>
              <a:rPr lang="en-IN" dirty="0"/>
              <a:t>Score Categories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50392" y="4005072"/>
            <a:ext cx="3008376" cy="10332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50" b="0">
                <a:solidFill>
                  <a:srgbClr val="1E2837"/>
                </a:solidFill>
                <a:latin typeface="Aptos"/>
              </a:defRPr>
            </a:pPr>
            <a:r>
              <a:t>Combine signals with adaptive weights.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68680" y="3611879"/>
            <a:ext cx="411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59123"/>
                </a:solidFill>
                <a:latin typeface="Aptos"/>
              </a:defRPr>
            </a:pPr>
            <a:r>
              <a:t>04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434840" y="3474720"/>
            <a:ext cx="3337560" cy="1691640"/>
          </a:xfrm>
          <a:prstGeom prst="roundRect">
            <a:avLst/>
          </a:prstGeom>
          <a:solidFill>
            <a:srgbClr val="F5F9FD"/>
          </a:solidFill>
          <a:ln w="19050">
            <a:solidFill>
              <a:srgbClr val="E146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5010911" y="3560456"/>
            <a:ext cx="3008376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E14646"/>
                </a:solidFill>
                <a:latin typeface="Aptos"/>
              </a:defRPr>
            </a:pPr>
            <a:r>
              <a:rPr dirty="0"/>
              <a:t>Check Uncertainty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99431" y="4005072"/>
            <a:ext cx="3008376" cy="10332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50" b="0">
                <a:solidFill>
                  <a:srgbClr val="1E2837"/>
                </a:solidFill>
                <a:latin typeface="Aptos"/>
              </a:defRPr>
            </a:pPr>
            <a:r>
              <a:t>Use score margin and evidence coverage.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617720" y="3611879"/>
            <a:ext cx="411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E14646"/>
                </a:solidFill>
                <a:latin typeface="Aptos"/>
              </a:defRPr>
            </a:pPr>
            <a:r>
              <a:t>05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183879" y="3474720"/>
            <a:ext cx="3337560" cy="1691640"/>
          </a:xfrm>
          <a:prstGeom prst="roundRect">
            <a:avLst/>
          </a:prstGeom>
          <a:solidFill>
            <a:srgbClr val="F5F9FD"/>
          </a:solidFill>
          <a:ln w="19050">
            <a:solidFill>
              <a:srgbClr val="1E7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8778239" y="3595655"/>
            <a:ext cx="3008376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1E78DC"/>
                </a:solidFill>
                <a:latin typeface="Aptos"/>
              </a:defRPr>
            </a:pPr>
            <a:r>
              <a:rPr dirty="0"/>
              <a:t>Return Result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348471" y="4005072"/>
            <a:ext cx="3008376" cy="10332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50" b="0">
                <a:solidFill>
                  <a:srgbClr val="1E2837"/>
                </a:solidFill>
                <a:latin typeface="Aptos"/>
              </a:defRPr>
            </a:pPr>
            <a:r>
              <a:t>Category + evidence + ACCEPT / REVIEW.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366759" y="3611879"/>
            <a:ext cx="411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E78DC"/>
                </a:solidFill>
                <a:latin typeface="Aptos"/>
              </a:defRPr>
            </a:pPr>
            <a:r>
              <a:t>06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94360" y="6510528"/>
            <a:ext cx="64008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50" b="0">
                <a:solidFill>
                  <a:srgbClr val="55697D"/>
                </a:solidFill>
                <a:latin typeface="Aptos"/>
              </a:defRPr>
            </a:pPr>
            <a:r>
              <a:t>Applied Machine Learning for Text Analysis  |  Review-2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1064240" y="6492240"/>
            <a:ext cx="457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50" b="0">
                <a:solidFill>
                  <a:srgbClr val="55697D"/>
                </a:solidFill>
                <a:latin typeface="Aptos"/>
              </a:defRPr>
            </a:pPr>
            <a:r>
              <a:t>5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E7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47472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700" b="1">
                <a:solidFill>
                  <a:srgbClr val="192D4B"/>
                </a:solidFill>
                <a:latin typeface="Aptos"/>
              </a:defRPr>
            </a:pPr>
            <a:r>
              <a:t>5. How the Adaptive Scoring Works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859536"/>
            <a:ext cx="10881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50" b="0">
                <a:solidFill>
                  <a:srgbClr val="55697D"/>
                </a:solidFill>
                <a:latin typeface="Aptos"/>
              </a:defRPr>
            </a:pPr>
            <a:r>
              <a:t>The system uses several independent pieces of evidence.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1325880"/>
            <a:ext cx="2514600" cy="1828800"/>
          </a:xfrm>
          <a:prstGeom prst="roundRect">
            <a:avLst/>
          </a:prstGeom>
          <a:solidFill>
            <a:srgbClr val="F5F9FD"/>
          </a:solidFill>
          <a:ln w="19050">
            <a:solidFill>
              <a:srgbClr val="1E7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50392" y="1463039"/>
            <a:ext cx="2185416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1E78DC"/>
                </a:solidFill>
                <a:latin typeface="Aptos"/>
              </a:defRPr>
            </a:pPr>
            <a:r>
              <a:t>Lexical Score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0392" y="1856231"/>
            <a:ext cx="2185416" cy="11704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50" b="0">
                <a:solidFill>
                  <a:srgbClr val="1E2837"/>
                </a:solidFill>
                <a:latin typeface="Aptos"/>
              </a:defRPr>
            </a:pPr>
            <a:r>
              <a:t>How strongly words / phrases in the article support each category.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337560" y="1325880"/>
            <a:ext cx="2514600" cy="1828800"/>
          </a:xfrm>
          <a:prstGeom prst="roundRect">
            <a:avLst/>
          </a:prstGeom>
          <a:solidFill>
            <a:srgbClr val="F5F9FD"/>
          </a:solidFill>
          <a:ln w="19050">
            <a:solidFill>
              <a:srgbClr val="00AA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3502152" y="1463039"/>
            <a:ext cx="2185416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00AABE"/>
                </a:solidFill>
                <a:latin typeface="Aptos"/>
              </a:defRPr>
            </a:pPr>
            <a:r>
              <a:t>Entity Score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502152" y="1856231"/>
            <a:ext cx="2185416" cy="11704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50" b="0">
                <a:solidFill>
                  <a:srgbClr val="1E2837"/>
                </a:solidFill>
                <a:latin typeface="Aptos"/>
              </a:defRPr>
            </a:pPr>
            <a:r>
              <a:t>Organizations, locations, products or other detected entities.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989320" y="1325880"/>
            <a:ext cx="2514600" cy="1828800"/>
          </a:xfrm>
          <a:prstGeom prst="roundRect">
            <a:avLst/>
          </a:prstGeom>
          <a:solidFill>
            <a:srgbClr val="F5F9FD"/>
          </a:solidFill>
          <a:ln w="19050">
            <a:solidFill>
              <a:srgbClr val="1EAA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153912" y="1463039"/>
            <a:ext cx="2185416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1EAA64"/>
                </a:solidFill>
                <a:latin typeface="Aptos"/>
              </a:defRPr>
            </a:pPr>
            <a:r>
              <a:t>Structure Score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153912" y="1856231"/>
            <a:ext cx="2185416" cy="11704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50" b="0">
                <a:solidFill>
                  <a:srgbClr val="1E2837"/>
                </a:solidFill>
                <a:latin typeface="Aptos"/>
              </a:defRPr>
            </a:pPr>
            <a:r>
              <a:t>Title-body agreement and concentration of topic evidence.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641080" y="1325880"/>
            <a:ext cx="2514600" cy="1828800"/>
          </a:xfrm>
          <a:prstGeom prst="roundRect">
            <a:avLst/>
          </a:prstGeom>
          <a:solidFill>
            <a:srgbClr val="F5F9FD"/>
          </a:solidFill>
          <a:ln w="19050">
            <a:solidFill>
              <a:srgbClr val="F591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805672" y="1463039"/>
            <a:ext cx="2185416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59123"/>
                </a:solidFill>
                <a:latin typeface="Aptos"/>
              </a:defRPr>
            </a:pPr>
            <a:r>
              <a:t>Source Score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805672" y="1856231"/>
            <a:ext cx="2185416" cy="11704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50" b="0">
                <a:solidFill>
                  <a:srgbClr val="1E2837"/>
                </a:solidFill>
                <a:latin typeface="Aptos"/>
              </a:defRPr>
            </a:pPr>
            <a:r>
              <a:t>Useful source/category associations where available.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05840" y="3749039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900" b="1">
                <a:solidFill>
                  <a:srgbClr val="192D4B"/>
                </a:solidFill>
                <a:latin typeface="Aptos"/>
              </a:defRPr>
            </a:pPr>
            <a:r>
              <a:t>Final category score = weighted combination of available evidence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828800" y="4572000"/>
            <a:ext cx="3657600" cy="1051560"/>
          </a:xfrm>
          <a:prstGeom prst="roundRect">
            <a:avLst/>
          </a:prstGeom>
          <a:solidFill>
            <a:srgbClr val="F5F9FD"/>
          </a:solidFill>
          <a:ln w="19050">
            <a:solidFill>
              <a:srgbClr val="1EAA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1993392" y="4709160"/>
            <a:ext cx="3328416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1EAA64"/>
                </a:solidFill>
                <a:latin typeface="Aptos"/>
              </a:defRPr>
            </a:pPr>
            <a:r>
              <a:t>Strong evidence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993392" y="5102352"/>
            <a:ext cx="3328416" cy="39319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50" b="0">
                <a:solidFill>
                  <a:srgbClr val="1E2837"/>
                </a:solidFill>
                <a:latin typeface="Aptos"/>
              </a:defRPr>
            </a:pPr>
            <a:r>
              <a:t>Return predicted category + supporting evidence.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675120" y="4572000"/>
            <a:ext cx="3657600" cy="1051560"/>
          </a:xfrm>
          <a:prstGeom prst="roundRect">
            <a:avLst/>
          </a:prstGeom>
          <a:solidFill>
            <a:srgbClr val="F5F9FD"/>
          </a:solidFill>
          <a:ln w="19050">
            <a:solidFill>
              <a:srgbClr val="E146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6839712" y="4709160"/>
            <a:ext cx="3328416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E14646"/>
                </a:solidFill>
                <a:latin typeface="Aptos"/>
              </a:defRPr>
            </a:pPr>
            <a:r>
              <a:t>Conflicting evidence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839712" y="5102352"/>
            <a:ext cx="3328416" cy="39319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50" b="0">
                <a:solidFill>
                  <a:srgbClr val="1E2837"/>
                </a:solidFill>
                <a:latin typeface="Aptos"/>
              </a:defRPr>
            </a:pPr>
            <a:r>
              <a:t>Return REVIEW instead of forcing a weak decision.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94360" y="6510528"/>
            <a:ext cx="64008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50" b="0">
                <a:solidFill>
                  <a:srgbClr val="55697D"/>
                </a:solidFill>
                <a:latin typeface="Aptos"/>
              </a:defRPr>
            </a:pPr>
            <a:r>
              <a:t>Applied Machine Learning for Text Analysis  |  Review-2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064240" y="6492240"/>
            <a:ext cx="457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50" b="0">
                <a:solidFill>
                  <a:srgbClr val="55697D"/>
                </a:solidFill>
                <a:latin typeface="Aptos"/>
              </a:defRPr>
            </a:pPr>
            <a:r>
              <a:t>6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E7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47472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700" b="1">
                <a:solidFill>
                  <a:srgbClr val="192D4B"/>
                </a:solidFill>
                <a:latin typeface="Aptos"/>
              </a:defRPr>
            </a:pPr>
            <a:r>
              <a:t>6. Dataset &amp; Experimental Setup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859536"/>
            <a:ext cx="10881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50" b="0">
                <a:solidFill>
                  <a:srgbClr val="55697D"/>
                </a:solidFill>
                <a:latin typeface="Aptos"/>
              </a:defRPr>
            </a:pPr>
            <a:r>
              <a:t>Use the existing dataset for continuity, but evaluate the new method independently.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1325880"/>
            <a:ext cx="2743200" cy="1371600"/>
          </a:xfrm>
          <a:prstGeom prst="roundRect">
            <a:avLst/>
          </a:prstGeom>
          <a:solidFill>
            <a:srgbClr val="F5F9FD"/>
          </a:solidFill>
          <a:ln w="19050">
            <a:solidFill>
              <a:srgbClr val="1E7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50392" y="1463039"/>
            <a:ext cx="2414016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1E78DC"/>
                </a:solidFill>
                <a:latin typeface="Aptos"/>
              </a:defRPr>
            </a:pPr>
            <a:r>
              <a:t>Dataset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0392" y="1856231"/>
            <a:ext cx="2414016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50" b="0">
                <a:solidFill>
                  <a:srgbClr val="1E2837"/>
                </a:solidFill>
                <a:latin typeface="Aptos"/>
              </a:defRPr>
            </a:pPr>
            <a:r>
              <a:t>1,458 total records</a:t>
            </a:r>
            <a:br/>
            <a:r>
              <a:t>1,445 used for 3-class experiment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611880" y="1325880"/>
            <a:ext cx="2743200" cy="1371600"/>
          </a:xfrm>
          <a:prstGeom prst="roundRect">
            <a:avLst/>
          </a:prstGeom>
          <a:solidFill>
            <a:srgbClr val="F5F9FD"/>
          </a:solidFill>
          <a:ln w="19050">
            <a:solidFill>
              <a:srgbClr val="00AA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3776472" y="1463039"/>
            <a:ext cx="2414016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00AABE"/>
                </a:solidFill>
                <a:latin typeface="Aptos"/>
              </a:defRPr>
            </a:pPr>
            <a:r>
              <a:t>Classes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776472" y="1856231"/>
            <a:ext cx="2414016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50" b="0">
                <a:solidFill>
                  <a:srgbClr val="1E2837"/>
                </a:solidFill>
                <a:latin typeface="Aptos"/>
              </a:defRPr>
            </a:pPr>
            <a:r>
              <a:t>Technology: 823</a:t>
            </a:r>
            <a:br/>
            <a:r>
              <a:t>Business: 409</a:t>
            </a:r>
            <a:br/>
            <a:r>
              <a:t>Politics: 213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537960" y="1325880"/>
            <a:ext cx="2743200" cy="1371600"/>
          </a:xfrm>
          <a:prstGeom prst="roundRect">
            <a:avLst/>
          </a:prstGeom>
          <a:solidFill>
            <a:srgbClr val="F5F9FD"/>
          </a:solidFill>
          <a:ln w="19050">
            <a:solidFill>
              <a:srgbClr val="1EAA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702552" y="1463039"/>
            <a:ext cx="2414016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1EAA64"/>
                </a:solidFill>
                <a:latin typeface="Aptos"/>
              </a:defRPr>
            </a:pPr>
            <a:r>
              <a:t>Split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702552" y="1856231"/>
            <a:ext cx="2414016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50" b="0">
                <a:solidFill>
                  <a:srgbClr val="1E2837"/>
                </a:solidFill>
                <a:latin typeface="Aptos"/>
              </a:defRPr>
            </a:pPr>
            <a:r>
              <a:t>Stratified 80/20</a:t>
            </a:r>
            <a:br/>
            <a:r>
              <a:t>1,156 train / 289 test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464040" y="1325880"/>
            <a:ext cx="2011680" cy="1371600"/>
          </a:xfrm>
          <a:prstGeom prst="roundRect">
            <a:avLst/>
          </a:prstGeom>
          <a:solidFill>
            <a:srgbClr val="F5F9FD"/>
          </a:solidFill>
          <a:ln w="19050">
            <a:solidFill>
              <a:srgbClr val="F591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9628632" y="1463039"/>
            <a:ext cx="1682496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59123"/>
                </a:solidFill>
                <a:latin typeface="Aptos"/>
              </a:defRPr>
            </a:pPr>
            <a:r>
              <a:t>Baseline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628632" y="1856231"/>
            <a:ext cx="1682496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50" b="0">
                <a:solidFill>
                  <a:srgbClr val="1E2837"/>
                </a:solidFill>
                <a:latin typeface="Aptos"/>
              </a:defRPr>
            </a:pPr>
            <a:r>
              <a:t>80.28% accuracy</a:t>
            </a:r>
            <a:br/>
            <a:r>
              <a:t>79.80% weighted F1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2960" y="3246120"/>
            <a:ext cx="2103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1E78DC"/>
                </a:solidFill>
                <a:latin typeface="Aptos"/>
              </a:defRPr>
            </a:pPr>
            <a:r>
              <a:t>NEW EXPERIMENTS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68680" y="3657600"/>
            <a:ext cx="100584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>
                <a:solidFill>
                  <a:srgbClr val="1E2837"/>
                </a:solidFill>
                <a:latin typeface="Aptos"/>
              </a:defRPr>
            </a:pPr>
            <a:r>
              <a:t>• Run ANFE on the same held-out evaluation setup.</a:t>
            </a:r>
          </a:p>
          <a:p>
            <a:pPr>
              <a:spcAft>
                <a:spcPts val="800"/>
              </a:spcAft>
              <a:defRPr sz="1400">
                <a:solidFill>
                  <a:srgbClr val="1E2837"/>
                </a:solidFill>
                <a:latin typeface="Aptos"/>
              </a:defRPr>
            </a:pPr>
            <a:r>
              <a:t>• Report accuracy, macro/weighted precision, recall and F1.</a:t>
            </a:r>
          </a:p>
          <a:p>
            <a:pPr>
              <a:spcAft>
                <a:spcPts val="800"/>
              </a:spcAft>
              <a:defRPr sz="1400">
                <a:solidFill>
                  <a:srgbClr val="1E2837"/>
                </a:solidFill>
                <a:latin typeface="Aptos"/>
              </a:defRPr>
            </a:pPr>
            <a:r>
              <a:t>• Generate confusion matrix and per-class results.</a:t>
            </a:r>
          </a:p>
          <a:p>
            <a:pPr>
              <a:spcAft>
                <a:spcPts val="800"/>
              </a:spcAft>
              <a:defRPr sz="1400">
                <a:solidFill>
                  <a:srgbClr val="1E2837"/>
                </a:solidFill>
                <a:latin typeface="Aptos"/>
              </a:defRPr>
            </a:pPr>
            <a:r>
              <a:t>• Run an ablation study by removing individual signals.</a:t>
            </a:r>
          </a:p>
          <a:p>
            <a:pPr>
              <a:spcAft>
                <a:spcPts val="800"/>
              </a:spcAft>
              <a:defRPr sz="1400">
                <a:solidFill>
                  <a:srgbClr val="1E2837"/>
                </a:solidFill>
                <a:latin typeface="Aptos"/>
              </a:defRPr>
            </a:pPr>
            <a:r>
              <a:t>• Report new results only after actual execution.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94360" y="6510528"/>
            <a:ext cx="64008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50" b="0">
                <a:solidFill>
                  <a:srgbClr val="55697D"/>
                </a:solidFill>
                <a:latin typeface="Aptos"/>
              </a:defRPr>
            </a:pPr>
            <a:r>
              <a:t>Applied Machine Learning for Text Analysis  |  Review-2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064240" y="6492240"/>
            <a:ext cx="457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50" b="0">
                <a:solidFill>
                  <a:srgbClr val="55697D"/>
                </a:solidFill>
                <a:latin typeface="Aptos"/>
              </a:defRPr>
            </a:pPr>
            <a:r>
              <a:t>7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E7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47472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700" b="1">
                <a:solidFill>
                  <a:srgbClr val="192D4B"/>
                </a:solidFill>
                <a:latin typeface="Aptos"/>
              </a:defRPr>
            </a:pPr>
            <a:r>
              <a:t>7. Antigravity-Based Implementation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859536"/>
            <a:ext cx="10881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50" b="0">
                <a:solidFill>
                  <a:srgbClr val="55697D"/>
                </a:solidFill>
                <a:latin typeface="Aptos"/>
              </a:defRPr>
            </a:pPr>
            <a:r>
              <a:t>Antigravity is now the main development workspace instead of making Colab the center of the workflow.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325880"/>
            <a:ext cx="2468880" cy="2011680"/>
          </a:xfrm>
          <a:prstGeom prst="roundRect">
            <a:avLst/>
          </a:prstGeom>
          <a:solidFill>
            <a:srgbClr val="F5F9FD"/>
          </a:solidFill>
          <a:ln w="19050">
            <a:solidFill>
              <a:srgbClr val="1E7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96112" y="1463039"/>
            <a:ext cx="2139696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1E78DC"/>
                </a:solidFill>
                <a:latin typeface="Aptos"/>
              </a:defRPr>
            </a:pPr>
            <a:r>
              <a:t>PLAN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96112" y="1856231"/>
            <a:ext cx="2139696" cy="1353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50" b="0">
                <a:solidFill>
                  <a:srgbClr val="1E2837"/>
                </a:solidFill>
                <a:latin typeface="Aptos"/>
              </a:defRPr>
            </a:pPr>
            <a:r>
              <a:t>Define modules, experiments and evaluation steps.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429000" y="1325880"/>
            <a:ext cx="2468880" cy="2011680"/>
          </a:xfrm>
          <a:prstGeom prst="roundRect">
            <a:avLst/>
          </a:prstGeom>
          <a:solidFill>
            <a:srgbClr val="F5F9FD"/>
          </a:solidFill>
          <a:ln w="19050">
            <a:solidFill>
              <a:srgbClr val="00AA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3593592" y="1463039"/>
            <a:ext cx="2139696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00AABE"/>
                </a:solidFill>
                <a:latin typeface="Aptos"/>
              </a:defRPr>
            </a:pPr>
            <a:r>
              <a:t>BUILD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593592" y="1856231"/>
            <a:ext cx="2139696" cy="1353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50" b="0">
                <a:solidFill>
                  <a:srgbClr val="1E2837"/>
                </a:solidFill>
                <a:latin typeface="Aptos"/>
              </a:defRPr>
            </a:pPr>
            <a:r>
              <a:t>Implement and refactor the ANFE pipeline.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26480" y="1325880"/>
            <a:ext cx="2468880" cy="2011680"/>
          </a:xfrm>
          <a:prstGeom prst="roundRect">
            <a:avLst/>
          </a:prstGeom>
          <a:solidFill>
            <a:srgbClr val="F5F9FD"/>
          </a:solidFill>
          <a:ln w="19050">
            <a:solidFill>
              <a:srgbClr val="1EAA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291072" y="1463039"/>
            <a:ext cx="2139696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1EAA64"/>
                </a:solidFill>
                <a:latin typeface="Aptos"/>
              </a:defRPr>
            </a:pPr>
            <a:r>
              <a:t>RUN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291072" y="1856231"/>
            <a:ext cx="2139696" cy="1353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50" b="0">
                <a:solidFill>
                  <a:srgbClr val="1E2837"/>
                </a:solidFill>
                <a:latin typeface="Aptos"/>
              </a:defRPr>
            </a:pPr>
            <a:r>
              <a:t>Execute experiments and collect outputs.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823960" y="1325880"/>
            <a:ext cx="2468880" cy="2011680"/>
          </a:xfrm>
          <a:prstGeom prst="roundRect">
            <a:avLst/>
          </a:prstGeom>
          <a:solidFill>
            <a:srgbClr val="F5F9FD"/>
          </a:solidFill>
          <a:ln w="19050">
            <a:solidFill>
              <a:srgbClr val="F591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988552" y="1463039"/>
            <a:ext cx="2139696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59123"/>
                </a:solidFill>
                <a:latin typeface="Aptos"/>
              </a:defRPr>
            </a:pPr>
            <a:r>
              <a:t>VERIFY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988552" y="1856231"/>
            <a:ext cx="2139696" cy="1353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50" b="0">
                <a:solidFill>
                  <a:srgbClr val="1E2837"/>
                </a:solidFill>
                <a:latin typeface="Aptos"/>
              </a:defRPr>
            </a:pPr>
            <a:r>
              <a:t>Check predictions, metrics and demo behaviour.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05840" y="3977639"/>
            <a:ext cx="10058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192D4B"/>
                </a:solidFill>
                <a:latin typeface="Aptos"/>
              </a:defRPr>
            </a:pPr>
            <a:r>
              <a:t>Antigravity → code → experiment → verification → presentation evidence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51560" y="4800600"/>
            <a:ext cx="9966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55697D"/>
                </a:solidFill>
                <a:latin typeface="Aptos"/>
              </a:defRPr>
            </a:pPr>
            <a:r>
              <a:t>Colab can still be used when useful, but it is no longer presented as the main project workflow.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94360" y="6510528"/>
            <a:ext cx="64008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50" b="0">
                <a:solidFill>
                  <a:srgbClr val="55697D"/>
                </a:solidFill>
                <a:latin typeface="Aptos"/>
              </a:defRPr>
            </a:pPr>
            <a:r>
              <a:t>Applied Machine Learning for Text Analysis  |  Review-2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064240" y="6492240"/>
            <a:ext cx="457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50" b="0">
                <a:solidFill>
                  <a:srgbClr val="55697D"/>
                </a:solidFill>
                <a:latin typeface="Aptos"/>
              </a:defRPr>
            </a:pPr>
            <a:r>
              <a:t>8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E7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47472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700" b="1">
                <a:solidFill>
                  <a:srgbClr val="192D4B"/>
                </a:solidFill>
                <a:latin typeface="Aptos"/>
              </a:defRPr>
            </a:pPr>
            <a:r>
              <a:t>8. Evaluation &amp; Ablation Study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859536"/>
            <a:ext cx="10881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50" b="0">
                <a:solidFill>
                  <a:srgbClr val="55697D"/>
                </a:solidFill>
                <a:latin typeface="Aptos"/>
              </a:defRPr>
            </a:pPr>
            <a:r>
              <a:t>This helps demonstrate that the new workflow is not just a different name for the old system.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325880"/>
            <a:ext cx="5166360" cy="3566160"/>
          </a:xfrm>
          <a:prstGeom prst="roundRect">
            <a:avLst/>
          </a:prstGeom>
          <a:solidFill>
            <a:srgbClr val="F5F9FD"/>
          </a:solidFill>
          <a:ln w="19050">
            <a:solidFill>
              <a:srgbClr val="1E7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96112" y="1463039"/>
            <a:ext cx="4837176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1E78DC"/>
                </a:solidFill>
                <a:latin typeface="Aptos"/>
              </a:defRPr>
            </a:pPr>
            <a:r>
              <a:t>Evaluation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96112" y="1856231"/>
            <a:ext cx="4837176" cy="290779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50" b="0">
                <a:solidFill>
                  <a:srgbClr val="1E2837"/>
                </a:solidFill>
                <a:latin typeface="Aptos"/>
              </a:defRPr>
            </a:pPr>
            <a:r>
              <a:t>• Accuracy</a:t>
            </a:r>
            <a:br/>
            <a:r>
              <a:t>• Macro Precision / Recall / F1</a:t>
            </a:r>
            <a:br/>
            <a:r>
              <a:t>• Weighted Precision / Recall / F1</a:t>
            </a:r>
            <a:br/>
            <a:r>
              <a:t>• Confusion Matrix</a:t>
            </a:r>
            <a:br/>
            <a:r>
              <a:t>• REVIEW / abstention rate</a:t>
            </a:r>
            <a:br/>
            <a:r>
              <a:t>• Accepted-prediction accuracy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72200" y="1325880"/>
            <a:ext cx="5166360" cy="3566160"/>
          </a:xfrm>
          <a:prstGeom prst="roundRect">
            <a:avLst/>
          </a:prstGeom>
          <a:solidFill>
            <a:srgbClr val="F5F9FD"/>
          </a:solidFill>
          <a:ln w="19050">
            <a:solidFill>
              <a:srgbClr val="1EAA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336792" y="1463039"/>
            <a:ext cx="4837176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1EAA64"/>
                </a:solidFill>
                <a:latin typeface="Aptos"/>
              </a:defRPr>
            </a:pPr>
            <a:r>
              <a:t>Ablation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36792" y="1856231"/>
            <a:ext cx="4837176" cy="290779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50" b="0">
                <a:solidFill>
                  <a:srgbClr val="1E2837"/>
                </a:solidFill>
                <a:latin typeface="Aptos"/>
              </a:defRPr>
            </a:pPr>
            <a:r>
              <a:t>Run the system with:</a:t>
            </a:r>
            <a:br/>
            <a:br/>
            <a:r>
              <a:t>1. All signals</a:t>
            </a:r>
            <a:br/>
            <a:r>
              <a:t>2. Without lexical signal</a:t>
            </a:r>
            <a:br/>
            <a:r>
              <a:t>3. Without entity signal</a:t>
            </a:r>
            <a:br/>
            <a:r>
              <a:t>4. Without structural signal</a:t>
            </a:r>
            <a:br/>
            <a:r>
              <a:t>5. Without source signal</a:t>
            </a:r>
            <a:br/>
            <a:br/>
            <a:r>
              <a:t>Then compare the changes in performance.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5349240"/>
            <a:ext cx="10241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F59123"/>
                </a:solidFill>
                <a:latin typeface="Aptos"/>
              </a:defRPr>
            </a:pPr>
            <a:r>
              <a:t>The ablation study gives evidence for which parts of our proposed method actually contribute.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4360" y="6510528"/>
            <a:ext cx="64008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50" b="0">
                <a:solidFill>
                  <a:srgbClr val="55697D"/>
                </a:solidFill>
                <a:latin typeface="Aptos"/>
              </a:defRPr>
            </a:pPr>
            <a:r>
              <a:t>Applied Machine Learning for Text Analysis  |  Review-2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064240" y="6492240"/>
            <a:ext cx="457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50" b="0">
                <a:solidFill>
                  <a:srgbClr val="55697D"/>
                </a:solidFill>
                <a:latin typeface="Aptos"/>
              </a:defRPr>
            </a:pPr>
            <a:r>
              <a:t>9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E7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47472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700" b="1">
                <a:solidFill>
                  <a:srgbClr val="192D4B"/>
                </a:solidFill>
                <a:latin typeface="Aptos"/>
              </a:defRPr>
            </a:pPr>
            <a:r>
              <a:t>9. Expected Demo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859536"/>
            <a:ext cx="10881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50" b="0">
                <a:solidFill>
                  <a:srgbClr val="55697D"/>
                </a:solidFill>
                <a:latin typeface="Aptos"/>
              </a:defRPr>
            </a:pPr>
            <a:r>
              <a:t>A simple demo that clearly shows what is different.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234440"/>
            <a:ext cx="6400800" cy="4526280"/>
          </a:xfrm>
          <a:prstGeom prst="roundRect">
            <a:avLst/>
          </a:prstGeom>
          <a:solidFill>
            <a:srgbClr val="F5F9FD"/>
          </a:solidFill>
          <a:ln w="19050">
            <a:solidFill>
              <a:srgbClr val="1E7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96112" y="1371600"/>
            <a:ext cx="6071616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1E78DC"/>
                </a:solidFill>
                <a:latin typeface="Aptos"/>
              </a:defRPr>
            </a:pPr>
            <a:r>
              <a:t>User Input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96112" y="1764792"/>
            <a:ext cx="6071616" cy="3867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50" b="0">
                <a:solidFill>
                  <a:srgbClr val="1E2837"/>
                </a:solidFill>
                <a:latin typeface="Aptos"/>
              </a:defRPr>
            </a:pPr>
            <a:r>
              <a:t>Enter a news article.</a:t>
            </a:r>
            <a:br/>
            <a:br/>
            <a:r>
              <a:t>↓</a:t>
            </a:r>
            <a:br/>
            <a:br/>
            <a:r>
              <a:t>System extracts multiple evidence signals.</a:t>
            </a:r>
            <a:br/>
            <a:br/>
            <a:r>
              <a:t>↓</a:t>
            </a:r>
            <a:br/>
            <a:br/>
            <a:r>
              <a:t>Category scores are calculated.</a:t>
            </a:r>
            <a:br/>
            <a:br/>
            <a:r>
              <a:t>↓</a:t>
            </a:r>
            <a:br/>
            <a:br/>
            <a:r>
              <a:t>The demo displays:</a:t>
            </a:r>
            <a:br/>
            <a:br/>
            <a:r>
              <a:t>Predicted Category</a:t>
            </a:r>
            <a:br/>
            <a:r>
              <a:t>Supporting Evidence</a:t>
            </a:r>
            <a:br/>
            <a:r>
              <a:t>Confidence / Score Margin</a:t>
            </a:r>
            <a:br/>
            <a:r>
              <a:t>ACCEPT or REVIEW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60920" y="1234440"/>
            <a:ext cx="4069080" cy="4526280"/>
          </a:xfrm>
          <a:prstGeom prst="roundRect">
            <a:avLst/>
          </a:prstGeom>
          <a:solidFill>
            <a:srgbClr val="F5F9FD"/>
          </a:solidFill>
          <a:ln w="19050">
            <a:solidFill>
              <a:srgbClr val="1EAA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7525512" y="1371600"/>
            <a:ext cx="3739896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1EAA64"/>
                </a:solidFill>
                <a:latin typeface="Aptos"/>
              </a:defRPr>
            </a:pPr>
            <a:r>
              <a:t>Example Output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525512" y="1764792"/>
            <a:ext cx="3739896" cy="3867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50" b="0">
                <a:solidFill>
                  <a:srgbClr val="1E2837"/>
                </a:solidFill>
                <a:latin typeface="Aptos"/>
              </a:defRPr>
            </a:pPr>
            <a:r>
              <a:t>PREDICTED: TECHNOLOGY</a:t>
            </a:r>
            <a:br/>
            <a:br/>
            <a:r>
              <a:t>Evidence:</a:t>
            </a:r>
            <a:br/>
            <a:r>
              <a:t>• AI</a:t>
            </a:r>
            <a:br/>
            <a:r>
              <a:t>• chip company</a:t>
            </a:r>
            <a:br/>
            <a:r>
              <a:t>• data center</a:t>
            </a:r>
            <a:br/>
            <a:r>
              <a:t>• funding</a:t>
            </a:r>
            <a:br/>
            <a:br/>
            <a:r>
              <a:t>Score margin: sufficient</a:t>
            </a:r>
            <a:br/>
            <a:br/>
            <a:r>
              <a:t>STATUS: ACCEPT</a:t>
            </a:r>
            <a:br/>
            <a:br/>
            <a:br/>
            <a:r>
              <a:t>If two categories have very similar evidence:</a:t>
            </a:r>
            <a:br/>
            <a:r>
              <a:t>STATUS: REVIEW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6510528"/>
            <a:ext cx="64008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50" b="0">
                <a:solidFill>
                  <a:srgbClr val="55697D"/>
                </a:solidFill>
                <a:latin typeface="Aptos"/>
              </a:defRPr>
            </a:pPr>
            <a:r>
              <a:t>Applied Machine Learning for Text Analysis  |  Review-2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064240" y="6492240"/>
            <a:ext cx="457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50" b="0">
                <a:solidFill>
                  <a:srgbClr val="55697D"/>
                </a:solidFill>
                <a:latin typeface="Aptos"/>
              </a:defRPr>
            </a:pPr>
            <a:r>
              <a:t>10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E7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47472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700" b="1">
                <a:solidFill>
                  <a:srgbClr val="192D4B"/>
                </a:solidFill>
                <a:latin typeface="Aptos"/>
              </a:defRPr>
            </a:pPr>
            <a:r>
              <a:t>10. Review-2 Implementation Status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859536"/>
            <a:ext cx="10881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50" b="0">
                <a:solidFill>
                  <a:srgbClr val="55697D"/>
                </a:solidFill>
                <a:latin typeface="Aptos"/>
              </a:defRPr>
            </a:pPr>
            <a:r>
              <a:t>Clearly separate completed baseline work from the new work.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280160"/>
            <a:ext cx="3383280" cy="3566160"/>
          </a:xfrm>
          <a:prstGeom prst="roundRect">
            <a:avLst/>
          </a:prstGeom>
          <a:solidFill>
            <a:srgbClr val="F5F9FD"/>
          </a:solidFill>
          <a:ln w="19050">
            <a:solidFill>
              <a:srgbClr val="1EAA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96112" y="1417319"/>
            <a:ext cx="3054096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1EAA64"/>
                </a:solidFill>
                <a:latin typeface="Aptos"/>
              </a:defRPr>
            </a:pPr>
            <a:r>
              <a:t>Completed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96112" y="1810512"/>
            <a:ext cx="3054096" cy="290779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50" b="0">
                <a:solidFill>
                  <a:srgbClr val="1E2837"/>
                </a:solidFill>
                <a:latin typeface="Aptos"/>
              </a:defRPr>
            </a:pPr>
            <a:r>
              <a:t>✓ Review-1 dataset analysis</a:t>
            </a:r>
            <a:br/>
            <a:r>
              <a:t>✓ Baseline implementation</a:t>
            </a:r>
            <a:br/>
            <a:r>
              <a:t>✓ Baseline evaluation</a:t>
            </a:r>
            <a:br/>
            <a:r>
              <a:t>✓ Literature study</a:t>
            </a:r>
            <a:br/>
            <a:r>
              <a:t>✓ New Review-2 methodology designed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89120" y="1280160"/>
            <a:ext cx="3383280" cy="3566160"/>
          </a:xfrm>
          <a:prstGeom prst="roundRect">
            <a:avLst/>
          </a:prstGeom>
          <a:solidFill>
            <a:srgbClr val="F5F9FD"/>
          </a:solidFill>
          <a:ln w="19050">
            <a:solidFill>
              <a:srgbClr val="F591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4553712" y="1417319"/>
            <a:ext cx="3054096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59123"/>
                </a:solidFill>
                <a:latin typeface="Aptos"/>
              </a:defRPr>
            </a:pPr>
            <a:r>
              <a:t>In Progress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53712" y="1810512"/>
            <a:ext cx="3054096" cy="290779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50" b="0">
                <a:solidFill>
                  <a:srgbClr val="1E2837"/>
                </a:solidFill>
                <a:latin typeface="Aptos"/>
              </a:defRPr>
            </a:pPr>
            <a:r>
              <a:t>→ ANFE implementation</a:t>
            </a:r>
            <a:br/>
            <a:r>
              <a:t>→ Antigravity workflow</a:t>
            </a:r>
            <a:br/>
            <a:r>
              <a:t>→ New experiments</a:t>
            </a:r>
            <a:br/>
            <a:r>
              <a:t>→ Ablation study</a:t>
            </a:r>
            <a:br/>
            <a:r>
              <a:t>→ Error analysis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046720" y="1280160"/>
            <a:ext cx="3383280" cy="3566160"/>
          </a:xfrm>
          <a:prstGeom prst="roundRect">
            <a:avLst/>
          </a:prstGeom>
          <a:solidFill>
            <a:srgbClr val="F5F9FD"/>
          </a:solidFill>
          <a:ln w="19050">
            <a:solidFill>
              <a:srgbClr val="1E7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8211312" y="1417319"/>
            <a:ext cx="3054096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1E78DC"/>
                </a:solidFill>
                <a:latin typeface="Aptos"/>
              </a:defRPr>
            </a:pPr>
            <a:r>
              <a:t>Next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11312" y="1810512"/>
            <a:ext cx="3054096" cy="290779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50" b="0">
                <a:solidFill>
                  <a:srgbClr val="1E2837"/>
                </a:solidFill>
                <a:latin typeface="Aptos"/>
              </a:defRPr>
            </a:pPr>
            <a:r>
              <a:t>→ Final metrics</a:t>
            </a:r>
            <a:br/>
            <a:r>
              <a:t>→ Confusion matrix</a:t>
            </a:r>
            <a:br/>
            <a:r>
              <a:t>→ Demo screenshots</a:t>
            </a:r>
            <a:br/>
            <a:r>
              <a:t>→ Final comparison with Review-1 baseline</a:t>
            </a:r>
            <a:br/>
            <a:r>
              <a:t>→ Report update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5303520"/>
            <a:ext cx="10241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E14646"/>
                </a:solidFill>
                <a:latin typeface="Aptos"/>
              </a:defRPr>
            </a:pPr>
            <a:r>
              <a:t>No new performance number is claimed until the new experiment is actually run.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94360" y="6510528"/>
            <a:ext cx="64008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50" b="0">
                <a:solidFill>
                  <a:srgbClr val="55697D"/>
                </a:solidFill>
                <a:latin typeface="Aptos"/>
              </a:defRPr>
            </a:pPr>
            <a:r>
              <a:t>Applied Machine Learning for Text Analysis  |  Review-2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064240" y="6492240"/>
            <a:ext cx="457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50" b="0">
                <a:solidFill>
                  <a:srgbClr val="55697D"/>
                </a:solidFill>
                <a:latin typeface="Aptos"/>
              </a:defRPr>
            </a:pPr>
            <a:r>
              <a:t>11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E7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47472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700" b="1">
                <a:solidFill>
                  <a:srgbClr val="192D4B"/>
                </a:solidFill>
                <a:latin typeface="Aptos"/>
              </a:defRPr>
            </a:pPr>
            <a:r>
              <a:t>11. Conclusion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859536"/>
            <a:ext cx="10881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50" b="0">
                <a:solidFill>
                  <a:srgbClr val="55697D"/>
                </a:solidFill>
                <a:latin typeface="Aptos"/>
              </a:defRPr>
            </a:pPr>
            <a:r>
              <a:t>Review-2 focuses on making the project more distinct while keeping the original problem and dataset.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417320"/>
            <a:ext cx="1024128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1E2837"/>
                </a:solidFill>
                <a:latin typeface="Aptos"/>
              </a:defRPr>
            </a:pPr>
            <a:r>
              <a:t>• Review-1's TF-IDF + Chi-square + Linear SVM result is retained as the baseline.</a:t>
            </a:r>
          </a:p>
          <a:p>
            <a:pPr>
              <a:spcAft>
                <a:spcPts val="800"/>
              </a:spcAft>
              <a:defRPr sz="1600">
                <a:solidFill>
                  <a:srgbClr val="1E2837"/>
                </a:solidFill>
                <a:latin typeface="Aptos"/>
              </a:defRPr>
            </a:pPr>
            <a:r>
              <a:t>• The main Review-2 methodology is the proposed Adaptive News Fingerprint Engine.</a:t>
            </a:r>
          </a:p>
          <a:p>
            <a:pPr>
              <a:spcAft>
                <a:spcPts val="800"/>
              </a:spcAft>
              <a:defRPr sz="1600">
                <a:solidFill>
                  <a:srgbClr val="1E2837"/>
                </a:solidFill>
                <a:latin typeface="Aptos"/>
              </a:defRPr>
            </a:pPr>
            <a:r>
              <a:t>• The new workflow combines multiple interpretable signals instead of directly adopting the main classifier from the reviewed papers.</a:t>
            </a:r>
          </a:p>
          <a:p>
            <a:pPr>
              <a:spcAft>
                <a:spcPts val="800"/>
              </a:spcAft>
              <a:defRPr sz="1600">
                <a:solidFill>
                  <a:srgbClr val="1E2837"/>
                </a:solidFill>
                <a:latin typeface="Aptos"/>
              </a:defRPr>
            </a:pPr>
            <a:r>
              <a:t>• Adaptive scoring and REVIEW handling are included to address uncertain or conflicting evidence.</a:t>
            </a:r>
          </a:p>
          <a:p>
            <a:pPr>
              <a:spcAft>
                <a:spcPts val="800"/>
              </a:spcAft>
              <a:defRPr sz="1600">
                <a:solidFill>
                  <a:srgbClr val="1E2837"/>
                </a:solidFill>
                <a:latin typeface="Aptos"/>
              </a:defRPr>
            </a:pPr>
            <a:r>
              <a:t>• Antigravity is used as the primary development and verification workspace.</a:t>
            </a:r>
          </a:p>
          <a:p>
            <a:pPr>
              <a:spcAft>
                <a:spcPts val="800"/>
              </a:spcAft>
              <a:defRPr sz="1600">
                <a:solidFill>
                  <a:srgbClr val="1E2837"/>
                </a:solidFill>
                <a:latin typeface="Aptos"/>
              </a:defRPr>
            </a:pPr>
            <a:r>
              <a:t>• Final novelty and performance claims will be supported by the implementation, ablation study and measured results.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5669280"/>
            <a:ext cx="10241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1E78DC"/>
                </a:solidFill>
                <a:latin typeface="Aptos"/>
              </a:defRPr>
            </a:pPr>
            <a:r>
              <a:t>SAME PROBLEM  •  NEW PROJECT DIRECTION  •  MEASURABLE EVALUATION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6510528"/>
            <a:ext cx="64008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50" b="0">
                <a:solidFill>
                  <a:srgbClr val="55697D"/>
                </a:solidFill>
                <a:latin typeface="Aptos"/>
              </a:defRPr>
            </a:pPr>
            <a:r>
              <a:t>Applied Machine Learning for Text Analysis  |  Review-2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64240" y="6492240"/>
            <a:ext cx="457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50" b="0">
                <a:solidFill>
                  <a:srgbClr val="55697D"/>
                </a:solidFill>
                <a:latin typeface="Aptos"/>
              </a:defRPr>
            </a:pPr>
            <a:r>
              <a:t>12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E7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205740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400" b="1">
                <a:solidFill>
                  <a:srgbClr val="192D4B"/>
                </a:solidFill>
                <a:latin typeface="Aptos"/>
              </a:defRPr>
            </a:pPr>
            <a:r>
              <a:t>THANK YOU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880360"/>
            <a:ext cx="10698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1E78DC"/>
                </a:solidFill>
                <a:latin typeface="Aptos"/>
              </a:defRPr>
            </a:pPr>
            <a:r>
              <a:t>Questions &amp; Discussion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657600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55697D"/>
                </a:solidFill>
                <a:latin typeface="Aptos"/>
              </a:defRPr>
            </a:pPr>
            <a:r>
              <a:t>Review-2 | AI-Based Multilingual News Categorization System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8</TotalTime>
  <Words>1319</Words>
  <Application>Microsoft Office PowerPoint</Application>
  <PresentationFormat>Widescreen</PresentationFormat>
  <Paragraphs>166</Paragraphs>
  <Slides>14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8" baseType="lpstr">
      <vt:lpstr>Aptos</vt:lpstr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Surya</dc:creator>
  <cp:keywords/>
  <dc:description>generated using python-pptx</dc:description>
  <cp:lastModifiedBy>Surya Prathap Gangumalla</cp:lastModifiedBy>
  <cp:revision>4</cp:revision>
  <dcterms:created xsi:type="dcterms:W3CDTF">2013-01-27T09:14:16Z</dcterms:created>
  <dcterms:modified xsi:type="dcterms:W3CDTF">2026-09-23T05:25:52Z</dcterms:modified>
  <cp:category/>
</cp:coreProperties>
</file>