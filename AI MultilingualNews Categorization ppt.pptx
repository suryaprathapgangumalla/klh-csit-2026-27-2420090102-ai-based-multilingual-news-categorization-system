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57" r:id="rId3"/>
    <p:sldId id="258" r:id="rId4"/>
    <p:sldId id="259" r:id="rId5"/>
    <p:sldId id="260" r:id="rId6"/>
    <p:sldId id="261" r:id="rId7"/>
    <p:sldId id="288" r:id="rId8"/>
    <p:sldId id="263" r:id="rId9"/>
    <p:sldId id="28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0BB768-EE37-4600-849D-9584B6DA9B2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81B5A14-C656-4B21-967A-7DB777C78E34}">
      <dgm:prSet phldrT="[Text]"/>
      <dgm:spPr/>
      <dgm:t>
        <a:bodyPr/>
        <a:lstStyle/>
        <a:p>
          <a:r>
            <a:rPr lang="en-IN" dirty="0"/>
            <a:t>Collect multilingual</a:t>
          </a:r>
          <a:br>
            <a:rPr lang="en-IN" dirty="0"/>
          </a:br>
          <a:r>
            <a:rPr lang="en-IN" dirty="0"/>
            <a:t>news datasets</a:t>
          </a:r>
        </a:p>
      </dgm:t>
    </dgm:pt>
    <dgm:pt modelId="{7E820D0D-DD16-4ABA-AD63-EAEF81887A37}" type="parTrans" cxnId="{60B94794-096B-4297-9123-5DAEBEDBD50B}">
      <dgm:prSet/>
      <dgm:spPr/>
      <dgm:t>
        <a:bodyPr/>
        <a:lstStyle/>
        <a:p>
          <a:endParaRPr lang="en-IN"/>
        </a:p>
      </dgm:t>
    </dgm:pt>
    <dgm:pt modelId="{FE52209E-1D62-4C34-B86C-4A14D2C50EED}" type="sibTrans" cxnId="{60B94794-096B-4297-9123-5DAEBEDBD50B}">
      <dgm:prSet/>
      <dgm:spPr/>
      <dgm:t>
        <a:bodyPr/>
        <a:lstStyle/>
        <a:p>
          <a:endParaRPr lang="en-IN"/>
        </a:p>
      </dgm:t>
    </dgm:pt>
    <dgm:pt modelId="{77F4EEC3-E65F-4CC9-88DE-683258C2D67D}">
      <dgm:prSet phldrT="[Text]"/>
      <dgm:spPr/>
      <dgm:t>
        <a:bodyPr/>
        <a:lstStyle/>
        <a:p>
          <a:r>
            <a:rPr lang="en-IN" dirty="0"/>
            <a:t>Preprocess</a:t>
          </a:r>
          <a:br>
            <a:rPr lang="en-IN" dirty="0"/>
          </a:br>
          <a:r>
            <a:rPr lang="en-IN" dirty="0"/>
            <a:t>text data</a:t>
          </a:r>
        </a:p>
      </dgm:t>
    </dgm:pt>
    <dgm:pt modelId="{922B30D2-2179-4E2A-98DC-8CC39901F359}" type="parTrans" cxnId="{157E25A6-99A0-4001-95E9-FA0F3D48F23F}">
      <dgm:prSet/>
      <dgm:spPr/>
      <dgm:t>
        <a:bodyPr/>
        <a:lstStyle/>
        <a:p>
          <a:endParaRPr lang="en-IN"/>
        </a:p>
      </dgm:t>
    </dgm:pt>
    <dgm:pt modelId="{DC08C3F1-4329-4077-8417-0BA14808AEE3}" type="sibTrans" cxnId="{157E25A6-99A0-4001-95E9-FA0F3D48F23F}">
      <dgm:prSet/>
      <dgm:spPr/>
      <dgm:t>
        <a:bodyPr/>
        <a:lstStyle/>
        <a:p>
          <a:endParaRPr lang="en-IN"/>
        </a:p>
      </dgm:t>
    </dgm:pt>
    <dgm:pt modelId="{FC19E98F-46C0-42CD-909A-49C4028B0149}">
      <dgm:prSet phldrT="[Text]"/>
      <dgm:spPr/>
      <dgm:t>
        <a:bodyPr/>
        <a:lstStyle/>
        <a:p>
          <a:r>
            <a:rPr lang="en-IN" dirty="0"/>
            <a:t>Tokenize using</a:t>
          </a:r>
          <a:br>
            <a:rPr lang="en-IN" dirty="0"/>
          </a:br>
          <a:r>
            <a:rPr lang="en-IN" dirty="0"/>
            <a:t>XLM-</a:t>
          </a:r>
          <a:r>
            <a:rPr lang="en-IN" dirty="0" err="1"/>
            <a:t>RoBERTa</a:t>
          </a:r>
          <a:endParaRPr lang="en-IN" dirty="0"/>
        </a:p>
      </dgm:t>
    </dgm:pt>
    <dgm:pt modelId="{A8B78950-10D0-4275-B30A-23CCB5BBE1C8}" type="parTrans" cxnId="{A0B80304-5D9B-499D-87CD-3C8BC67761B7}">
      <dgm:prSet/>
      <dgm:spPr/>
      <dgm:t>
        <a:bodyPr/>
        <a:lstStyle/>
        <a:p>
          <a:endParaRPr lang="en-IN"/>
        </a:p>
      </dgm:t>
    </dgm:pt>
    <dgm:pt modelId="{EF8E7815-64B4-4E98-96D7-EA8716879DDD}" type="sibTrans" cxnId="{A0B80304-5D9B-499D-87CD-3C8BC67761B7}">
      <dgm:prSet/>
      <dgm:spPr/>
      <dgm:t>
        <a:bodyPr/>
        <a:lstStyle/>
        <a:p>
          <a:endParaRPr lang="en-IN"/>
        </a:p>
      </dgm:t>
    </dgm:pt>
    <dgm:pt modelId="{A584EAD8-BF05-40C3-8CFF-78208C2EBF0A}">
      <dgm:prSet phldrT="[Text]"/>
      <dgm:spPr/>
      <dgm:t>
        <a:bodyPr/>
        <a:lstStyle/>
        <a:p>
          <a:r>
            <a:rPr lang="en-IN" dirty="0"/>
            <a:t>Fine-tune</a:t>
          </a:r>
          <a:br>
            <a:rPr lang="en-IN" dirty="0"/>
          </a:br>
          <a:r>
            <a:rPr lang="en-IN" dirty="0"/>
            <a:t>XLM-</a:t>
          </a:r>
          <a:r>
            <a:rPr lang="en-IN" dirty="0" err="1"/>
            <a:t>RoBERTa</a:t>
          </a:r>
          <a:endParaRPr lang="en-IN" dirty="0"/>
        </a:p>
      </dgm:t>
    </dgm:pt>
    <dgm:pt modelId="{76F5571C-15AA-455F-BB60-A7AB07DE1ABA}" type="parTrans" cxnId="{6681C465-90AB-4C5A-989E-DD1084055E59}">
      <dgm:prSet/>
      <dgm:spPr/>
      <dgm:t>
        <a:bodyPr/>
        <a:lstStyle/>
        <a:p>
          <a:endParaRPr lang="en-IN"/>
        </a:p>
      </dgm:t>
    </dgm:pt>
    <dgm:pt modelId="{B28D4FAF-7597-4BE3-ACB6-B638F7C2574A}" type="sibTrans" cxnId="{6681C465-90AB-4C5A-989E-DD1084055E59}">
      <dgm:prSet/>
      <dgm:spPr/>
      <dgm:t>
        <a:bodyPr/>
        <a:lstStyle/>
        <a:p>
          <a:endParaRPr lang="en-IN"/>
        </a:p>
      </dgm:t>
    </dgm:pt>
    <dgm:pt modelId="{794D24CA-6713-4607-9DC4-C5F74E4A47DF}">
      <dgm:prSet phldrT="[Text]"/>
      <dgm:spPr/>
      <dgm:t>
        <a:bodyPr/>
        <a:lstStyle/>
        <a:p>
          <a:r>
            <a:rPr lang="en-IN"/>
            <a:t>Display category +</a:t>
          </a:r>
          <a:br>
            <a:rPr lang="en-IN"/>
          </a:br>
          <a:r>
            <a:rPr lang="en-IN"/>
            <a:t>confidence score</a:t>
          </a:r>
          <a:endParaRPr lang="en-IN" dirty="0"/>
        </a:p>
      </dgm:t>
    </dgm:pt>
    <dgm:pt modelId="{D969271B-6502-4253-B75C-26E75E38E931}" type="parTrans" cxnId="{EB3824A2-D25B-4322-AEA6-8BB7CCB293B2}">
      <dgm:prSet/>
      <dgm:spPr/>
      <dgm:t>
        <a:bodyPr/>
        <a:lstStyle/>
        <a:p>
          <a:endParaRPr lang="en-IN"/>
        </a:p>
      </dgm:t>
    </dgm:pt>
    <dgm:pt modelId="{BEB79972-451B-4D53-874E-A3AFC00ECEAA}" type="sibTrans" cxnId="{EB3824A2-D25B-4322-AEA6-8BB7CCB293B2}">
      <dgm:prSet/>
      <dgm:spPr/>
      <dgm:t>
        <a:bodyPr/>
        <a:lstStyle/>
        <a:p>
          <a:endParaRPr lang="en-IN"/>
        </a:p>
      </dgm:t>
    </dgm:pt>
    <dgm:pt modelId="{6FDCEF9A-7411-46C9-9C96-B04EC5BB9375}" type="pres">
      <dgm:prSet presAssocID="{C30BB768-EE37-4600-849D-9584B6DA9B20}" presName="Name0" presStyleCnt="0">
        <dgm:presLayoutVars>
          <dgm:dir/>
          <dgm:resizeHandles val="exact"/>
        </dgm:presLayoutVars>
      </dgm:prSet>
      <dgm:spPr/>
    </dgm:pt>
    <dgm:pt modelId="{2957FE75-2501-47B7-82F6-ABADFF6CA6BA}" type="pres">
      <dgm:prSet presAssocID="{081B5A14-C656-4B21-967A-7DB777C78E34}" presName="node" presStyleLbl="node1" presStyleIdx="0" presStyleCnt="5">
        <dgm:presLayoutVars>
          <dgm:bulletEnabled val="1"/>
        </dgm:presLayoutVars>
      </dgm:prSet>
      <dgm:spPr/>
    </dgm:pt>
    <dgm:pt modelId="{27F2A0B0-5249-47BC-8DBC-EB9B393D516A}" type="pres">
      <dgm:prSet presAssocID="{FE52209E-1D62-4C34-B86C-4A14D2C50EED}" presName="sibTrans" presStyleLbl="sibTrans2D1" presStyleIdx="0" presStyleCnt="4"/>
      <dgm:spPr/>
    </dgm:pt>
    <dgm:pt modelId="{2E66B367-C271-46CA-B964-9830BFBF70B1}" type="pres">
      <dgm:prSet presAssocID="{FE52209E-1D62-4C34-B86C-4A14D2C50EED}" presName="connectorText" presStyleLbl="sibTrans2D1" presStyleIdx="0" presStyleCnt="4"/>
      <dgm:spPr/>
    </dgm:pt>
    <dgm:pt modelId="{88EB815B-FBF6-4969-AD42-66AD3E6B39F6}" type="pres">
      <dgm:prSet presAssocID="{77F4EEC3-E65F-4CC9-88DE-683258C2D67D}" presName="node" presStyleLbl="node1" presStyleIdx="1" presStyleCnt="5">
        <dgm:presLayoutVars>
          <dgm:bulletEnabled val="1"/>
        </dgm:presLayoutVars>
      </dgm:prSet>
      <dgm:spPr/>
    </dgm:pt>
    <dgm:pt modelId="{1D72975B-C024-4547-BFEB-4CF28710A60D}" type="pres">
      <dgm:prSet presAssocID="{DC08C3F1-4329-4077-8417-0BA14808AEE3}" presName="sibTrans" presStyleLbl="sibTrans2D1" presStyleIdx="1" presStyleCnt="4"/>
      <dgm:spPr/>
    </dgm:pt>
    <dgm:pt modelId="{5C2F5AC7-2BD8-4DDE-BD15-A8FCF9257E1E}" type="pres">
      <dgm:prSet presAssocID="{DC08C3F1-4329-4077-8417-0BA14808AEE3}" presName="connectorText" presStyleLbl="sibTrans2D1" presStyleIdx="1" presStyleCnt="4"/>
      <dgm:spPr/>
    </dgm:pt>
    <dgm:pt modelId="{F30BB42C-4C9D-4838-B77F-D1FF0B9ACCAC}" type="pres">
      <dgm:prSet presAssocID="{FC19E98F-46C0-42CD-909A-49C4028B0149}" presName="node" presStyleLbl="node1" presStyleIdx="2" presStyleCnt="5">
        <dgm:presLayoutVars>
          <dgm:bulletEnabled val="1"/>
        </dgm:presLayoutVars>
      </dgm:prSet>
      <dgm:spPr/>
    </dgm:pt>
    <dgm:pt modelId="{04EF0815-4923-4EDE-8117-8361F6B0F648}" type="pres">
      <dgm:prSet presAssocID="{EF8E7815-64B4-4E98-96D7-EA8716879DDD}" presName="sibTrans" presStyleLbl="sibTrans2D1" presStyleIdx="2" presStyleCnt="4"/>
      <dgm:spPr/>
    </dgm:pt>
    <dgm:pt modelId="{1C195A3E-2ABF-4AEE-B91E-846E349E21DB}" type="pres">
      <dgm:prSet presAssocID="{EF8E7815-64B4-4E98-96D7-EA8716879DDD}" presName="connectorText" presStyleLbl="sibTrans2D1" presStyleIdx="2" presStyleCnt="4"/>
      <dgm:spPr/>
    </dgm:pt>
    <dgm:pt modelId="{E057F9A4-FC56-4207-A966-90496DCEFDAE}" type="pres">
      <dgm:prSet presAssocID="{A584EAD8-BF05-40C3-8CFF-78208C2EBF0A}" presName="node" presStyleLbl="node1" presStyleIdx="3" presStyleCnt="5">
        <dgm:presLayoutVars>
          <dgm:bulletEnabled val="1"/>
        </dgm:presLayoutVars>
      </dgm:prSet>
      <dgm:spPr/>
    </dgm:pt>
    <dgm:pt modelId="{D8326548-6CDB-4180-A8C2-00102978032F}" type="pres">
      <dgm:prSet presAssocID="{B28D4FAF-7597-4BE3-ACB6-B638F7C2574A}" presName="sibTrans" presStyleLbl="sibTrans2D1" presStyleIdx="3" presStyleCnt="4"/>
      <dgm:spPr/>
    </dgm:pt>
    <dgm:pt modelId="{A222FBDF-4097-4C26-AE1D-C9CF9A3938F4}" type="pres">
      <dgm:prSet presAssocID="{B28D4FAF-7597-4BE3-ACB6-B638F7C2574A}" presName="connectorText" presStyleLbl="sibTrans2D1" presStyleIdx="3" presStyleCnt="4"/>
      <dgm:spPr/>
    </dgm:pt>
    <dgm:pt modelId="{A16AC56C-8913-4521-8BC2-9B90C4AB705D}" type="pres">
      <dgm:prSet presAssocID="{794D24CA-6713-4607-9DC4-C5F74E4A47DF}" presName="node" presStyleLbl="node1" presStyleIdx="4" presStyleCnt="5">
        <dgm:presLayoutVars>
          <dgm:bulletEnabled val="1"/>
        </dgm:presLayoutVars>
      </dgm:prSet>
      <dgm:spPr/>
    </dgm:pt>
  </dgm:ptLst>
  <dgm:cxnLst>
    <dgm:cxn modelId="{A0B80304-5D9B-499D-87CD-3C8BC67761B7}" srcId="{C30BB768-EE37-4600-849D-9584B6DA9B20}" destId="{FC19E98F-46C0-42CD-909A-49C4028B0149}" srcOrd="2" destOrd="0" parTransId="{A8B78950-10D0-4275-B30A-23CCB5BBE1C8}" sibTransId="{EF8E7815-64B4-4E98-96D7-EA8716879DDD}"/>
    <dgm:cxn modelId="{F6D91218-F596-4FD5-9B17-EC24FDAC8374}" type="presOf" srcId="{081B5A14-C656-4B21-967A-7DB777C78E34}" destId="{2957FE75-2501-47B7-82F6-ABADFF6CA6BA}" srcOrd="0" destOrd="0" presId="urn:microsoft.com/office/officeart/2005/8/layout/process1"/>
    <dgm:cxn modelId="{C1A2633B-2625-4A32-9395-D4E989CB2D37}" type="presOf" srcId="{A584EAD8-BF05-40C3-8CFF-78208C2EBF0A}" destId="{E057F9A4-FC56-4207-A966-90496DCEFDAE}" srcOrd="0" destOrd="0" presId="urn:microsoft.com/office/officeart/2005/8/layout/process1"/>
    <dgm:cxn modelId="{C9FEDB5E-2281-4D9C-8848-6C3E55D275BA}" type="presOf" srcId="{B28D4FAF-7597-4BE3-ACB6-B638F7C2574A}" destId="{A222FBDF-4097-4C26-AE1D-C9CF9A3938F4}" srcOrd="1" destOrd="0" presId="urn:microsoft.com/office/officeart/2005/8/layout/process1"/>
    <dgm:cxn modelId="{EE71E161-20D4-4320-A9D6-44407B1DFCD0}" type="presOf" srcId="{FE52209E-1D62-4C34-B86C-4A14D2C50EED}" destId="{27F2A0B0-5249-47BC-8DBC-EB9B393D516A}" srcOrd="0" destOrd="0" presId="urn:microsoft.com/office/officeart/2005/8/layout/process1"/>
    <dgm:cxn modelId="{D43D7042-75E2-441A-9210-B09116C3AA53}" type="presOf" srcId="{EF8E7815-64B4-4E98-96D7-EA8716879DDD}" destId="{1C195A3E-2ABF-4AEE-B91E-846E349E21DB}" srcOrd="1" destOrd="0" presId="urn:microsoft.com/office/officeart/2005/8/layout/process1"/>
    <dgm:cxn modelId="{1B6B8545-186F-46F7-8042-45EDA7CFB08F}" type="presOf" srcId="{DC08C3F1-4329-4077-8417-0BA14808AEE3}" destId="{1D72975B-C024-4547-BFEB-4CF28710A60D}" srcOrd="0" destOrd="0" presId="urn:microsoft.com/office/officeart/2005/8/layout/process1"/>
    <dgm:cxn modelId="{6681C465-90AB-4C5A-989E-DD1084055E59}" srcId="{C30BB768-EE37-4600-849D-9584B6DA9B20}" destId="{A584EAD8-BF05-40C3-8CFF-78208C2EBF0A}" srcOrd="3" destOrd="0" parTransId="{76F5571C-15AA-455F-BB60-A7AB07DE1ABA}" sibTransId="{B28D4FAF-7597-4BE3-ACB6-B638F7C2574A}"/>
    <dgm:cxn modelId="{DCA28971-9385-4471-A52B-80CD742F16D7}" type="presOf" srcId="{77F4EEC3-E65F-4CC9-88DE-683258C2D67D}" destId="{88EB815B-FBF6-4969-AD42-66AD3E6B39F6}" srcOrd="0" destOrd="0" presId="urn:microsoft.com/office/officeart/2005/8/layout/process1"/>
    <dgm:cxn modelId="{4128EC7F-CAE8-4845-BCBB-A0A7B20E3571}" type="presOf" srcId="{DC08C3F1-4329-4077-8417-0BA14808AEE3}" destId="{5C2F5AC7-2BD8-4DDE-BD15-A8FCF9257E1E}" srcOrd="1" destOrd="0" presId="urn:microsoft.com/office/officeart/2005/8/layout/process1"/>
    <dgm:cxn modelId="{449A508E-265A-46BA-A1BA-BF734D385151}" type="presOf" srcId="{FC19E98F-46C0-42CD-909A-49C4028B0149}" destId="{F30BB42C-4C9D-4838-B77F-D1FF0B9ACCAC}" srcOrd="0" destOrd="0" presId="urn:microsoft.com/office/officeart/2005/8/layout/process1"/>
    <dgm:cxn modelId="{8440AD91-E104-4D36-9E19-F91319A79087}" type="presOf" srcId="{794D24CA-6713-4607-9DC4-C5F74E4A47DF}" destId="{A16AC56C-8913-4521-8BC2-9B90C4AB705D}" srcOrd="0" destOrd="0" presId="urn:microsoft.com/office/officeart/2005/8/layout/process1"/>
    <dgm:cxn modelId="{60B94794-096B-4297-9123-5DAEBEDBD50B}" srcId="{C30BB768-EE37-4600-849D-9584B6DA9B20}" destId="{081B5A14-C656-4B21-967A-7DB777C78E34}" srcOrd="0" destOrd="0" parTransId="{7E820D0D-DD16-4ABA-AD63-EAEF81887A37}" sibTransId="{FE52209E-1D62-4C34-B86C-4A14D2C50EED}"/>
    <dgm:cxn modelId="{4BCD7CA1-AE32-41AD-81EA-BF92A16C12B3}" type="presOf" srcId="{C30BB768-EE37-4600-849D-9584B6DA9B20}" destId="{6FDCEF9A-7411-46C9-9C96-B04EC5BB9375}" srcOrd="0" destOrd="0" presId="urn:microsoft.com/office/officeart/2005/8/layout/process1"/>
    <dgm:cxn modelId="{EB3824A2-D25B-4322-AEA6-8BB7CCB293B2}" srcId="{C30BB768-EE37-4600-849D-9584B6DA9B20}" destId="{794D24CA-6713-4607-9DC4-C5F74E4A47DF}" srcOrd="4" destOrd="0" parTransId="{D969271B-6502-4253-B75C-26E75E38E931}" sibTransId="{BEB79972-451B-4D53-874E-A3AFC00ECEAA}"/>
    <dgm:cxn modelId="{157E25A6-99A0-4001-95E9-FA0F3D48F23F}" srcId="{C30BB768-EE37-4600-849D-9584B6DA9B20}" destId="{77F4EEC3-E65F-4CC9-88DE-683258C2D67D}" srcOrd="1" destOrd="0" parTransId="{922B30D2-2179-4E2A-98DC-8CC39901F359}" sibTransId="{DC08C3F1-4329-4077-8417-0BA14808AEE3}"/>
    <dgm:cxn modelId="{6C2DCDA8-6962-4693-A4F5-F1EE26A26E84}" type="presOf" srcId="{B28D4FAF-7597-4BE3-ACB6-B638F7C2574A}" destId="{D8326548-6CDB-4180-A8C2-00102978032F}" srcOrd="0" destOrd="0" presId="urn:microsoft.com/office/officeart/2005/8/layout/process1"/>
    <dgm:cxn modelId="{A387CAAD-59BD-4125-AFB9-DE67F54A006F}" type="presOf" srcId="{EF8E7815-64B4-4E98-96D7-EA8716879DDD}" destId="{04EF0815-4923-4EDE-8117-8361F6B0F648}" srcOrd="0" destOrd="0" presId="urn:microsoft.com/office/officeart/2005/8/layout/process1"/>
    <dgm:cxn modelId="{FB2E41D7-9B68-43F9-8EAB-7C05CAE4A44C}" type="presOf" srcId="{FE52209E-1D62-4C34-B86C-4A14D2C50EED}" destId="{2E66B367-C271-46CA-B964-9830BFBF70B1}" srcOrd="1" destOrd="0" presId="urn:microsoft.com/office/officeart/2005/8/layout/process1"/>
    <dgm:cxn modelId="{AFAC59E3-CC8B-4CAC-AD6F-BCAFC975A460}" type="presParOf" srcId="{6FDCEF9A-7411-46C9-9C96-B04EC5BB9375}" destId="{2957FE75-2501-47B7-82F6-ABADFF6CA6BA}" srcOrd="0" destOrd="0" presId="urn:microsoft.com/office/officeart/2005/8/layout/process1"/>
    <dgm:cxn modelId="{4B168114-8EFF-4FB0-8985-C773A9FB9387}" type="presParOf" srcId="{6FDCEF9A-7411-46C9-9C96-B04EC5BB9375}" destId="{27F2A0B0-5249-47BC-8DBC-EB9B393D516A}" srcOrd="1" destOrd="0" presId="urn:microsoft.com/office/officeart/2005/8/layout/process1"/>
    <dgm:cxn modelId="{A70A0D6D-87EC-4D26-8E01-35FEF354A80E}" type="presParOf" srcId="{27F2A0B0-5249-47BC-8DBC-EB9B393D516A}" destId="{2E66B367-C271-46CA-B964-9830BFBF70B1}" srcOrd="0" destOrd="0" presId="urn:microsoft.com/office/officeart/2005/8/layout/process1"/>
    <dgm:cxn modelId="{0381F033-BA0E-443F-B06A-8A023A363A7B}" type="presParOf" srcId="{6FDCEF9A-7411-46C9-9C96-B04EC5BB9375}" destId="{88EB815B-FBF6-4969-AD42-66AD3E6B39F6}" srcOrd="2" destOrd="0" presId="urn:microsoft.com/office/officeart/2005/8/layout/process1"/>
    <dgm:cxn modelId="{72B6233C-3D24-4B24-A6EE-505FC214368C}" type="presParOf" srcId="{6FDCEF9A-7411-46C9-9C96-B04EC5BB9375}" destId="{1D72975B-C024-4547-BFEB-4CF28710A60D}" srcOrd="3" destOrd="0" presId="urn:microsoft.com/office/officeart/2005/8/layout/process1"/>
    <dgm:cxn modelId="{118DB9F4-9192-4166-9A6F-F61B0FC46DD2}" type="presParOf" srcId="{1D72975B-C024-4547-BFEB-4CF28710A60D}" destId="{5C2F5AC7-2BD8-4DDE-BD15-A8FCF9257E1E}" srcOrd="0" destOrd="0" presId="urn:microsoft.com/office/officeart/2005/8/layout/process1"/>
    <dgm:cxn modelId="{CC6FED84-B08D-44F3-8FB2-393E3D3D8C90}" type="presParOf" srcId="{6FDCEF9A-7411-46C9-9C96-B04EC5BB9375}" destId="{F30BB42C-4C9D-4838-B77F-D1FF0B9ACCAC}" srcOrd="4" destOrd="0" presId="urn:microsoft.com/office/officeart/2005/8/layout/process1"/>
    <dgm:cxn modelId="{BE76F50C-D332-4FD2-A44E-1C80DE802382}" type="presParOf" srcId="{6FDCEF9A-7411-46C9-9C96-B04EC5BB9375}" destId="{04EF0815-4923-4EDE-8117-8361F6B0F648}" srcOrd="5" destOrd="0" presId="urn:microsoft.com/office/officeart/2005/8/layout/process1"/>
    <dgm:cxn modelId="{C98864B4-D3A6-4EF3-96E5-6F4854CBB874}" type="presParOf" srcId="{04EF0815-4923-4EDE-8117-8361F6B0F648}" destId="{1C195A3E-2ABF-4AEE-B91E-846E349E21DB}" srcOrd="0" destOrd="0" presId="urn:microsoft.com/office/officeart/2005/8/layout/process1"/>
    <dgm:cxn modelId="{13E3C52E-A93F-45FF-871C-7608B171ADF6}" type="presParOf" srcId="{6FDCEF9A-7411-46C9-9C96-B04EC5BB9375}" destId="{E057F9A4-FC56-4207-A966-90496DCEFDAE}" srcOrd="6" destOrd="0" presId="urn:microsoft.com/office/officeart/2005/8/layout/process1"/>
    <dgm:cxn modelId="{39927545-56BB-40C2-8009-9F91E159BEDA}" type="presParOf" srcId="{6FDCEF9A-7411-46C9-9C96-B04EC5BB9375}" destId="{D8326548-6CDB-4180-A8C2-00102978032F}" srcOrd="7" destOrd="0" presId="urn:microsoft.com/office/officeart/2005/8/layout/process1"/>
    <dgm:cxn modelId="{ABE3406B-8322-449D-BE36-B034A4C3C7E2}" type="presParOf" srcId="{D8326548-6CDB-4180-A8C2-00102978032F}" destId="{A222FBDF-4097-4C26-AE1D-C9CF9A3938F4}" srcOrd="0" destOrd="0" presId="urn:microsoft.com/office/officeart/2005/8/layout/process1"/>
    <dgm:cxn modelId="{89AA4582-8072-41E7-B71B-E91DE187EF09}" type="presParOf" srcId="{6FDCEF9A-7411-46C9-9C96-B04EC5BB9375}" destId="{A16AC56C-8913-4521-8BC2-9B90C4AB705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7FE75-2501-47B7-82F6-ABADFF6CA6BA}">
      <dsp:nvSpPr>
        <dsp:cNvPr id="0" name=""/>
        <dsp:cNvSpPr/>
      </dsp:nvSpPr>
      <dsp:spPr>
        <a:xfrm>
          <a:off x="4356" y="1845185"/>
          <a:ext cx="1350615" cy="12282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Collect multilingual</a:t>
          </a:r>
          <a:br>
            <a:rPr lang="en-IN" sz="1800" kern="1200" dirty="0"/>
          </a:br>
          <a:r>
            <a:rPr lang="en-IN" sz="1800" kern="1200" dirty="0"/>
            <a:t>news datasets</a:t>
          </a:r>
        </a:p>
      </dsp:txBody>
      <dsp:txXfrm>
        <a:off x="40329" y="1881158"/>
        <a:ext cx="1278669" cy="1156269"/>
      </dsp:txXfrm>
    </dsp:sp>
    <dsp:sp modelId="{27F2A0B0-5249-47BC-8DBC-EB9B393D516A}">
      <dsp:nvSpPr>
        <dsp:cNvPr id="0" name=""/>
        <dsp:cNvSpPr/>
      </dsp:nvSpPr>
      <dsp:spPr>
        <a:xfrm>
          <a:off x="1490033" y="2291817"/>
          <a:ext cx="286330" cy="334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490033" y="2358807"/>
        <a:ext cx="200431" cy="200972"/>
      </dsp:txXfrm>
    </dsp:sp>
    <dsp:sp modelId="{88EB815B-FBF6-4969-AD42-66AD3E6B39F6}">
      <dsp:nvSpPr>
        <dsp:cNvPr id="0" name=""/>
        <dsp:cNvSpPr/>
      </dsp:nvSpPr>
      <dsp:spPr>
        <a:xfrm>
          <a:off x="1895218" y="1845185"/>
          <a:ext cx="1350615" cy="12282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Preprocess</a:t>
          </a:r>
          <a:br>
            <a:rPr lang="en-IN" sz="1800" kern="1200" dirty="0"/>
          </a:br>
          <a:r>
            <a:rPr lang="en-IN" sz="1800" kern="1200" dirty="0"/>
            <a:t>text data</a:t>
          </a:r>
        </a:p>
      </dsp:txBody>
      <dsp:txXfrm>
        <a:off x="1931191" y="1881158"/>
        <a:ext cx="1278669" cy="1156269"/>
      </dsp:txXfrm>
    </dsp:sp>
    <dsp:sp modelId="{1D72975B-C024-4547-BFEB-4CF28710A60D}">
      <dsp:nvSpPr>
        <dsp:cNvPr id="0" name=""/>
        <dsp:cNvSpPr/>
      </dsp:nvSpPr>
      <dsp:spPr>
        <a:xfrm>
          <a:off x="3380894" y="2291817"/>
          <a:ext cx="286330" cy="334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3380894" y="2358807"/>
        <a:ext cx="200431" cy="200972"/>
      </dsp:txXfrm>
    </dsp:sp>
    <dsp:sp modelId="{F30BB42C-4C9D-4838-B77F-D1FF0B9ACCAC}">
      <dsp:nvSpPr>
        <dsp:cNvPr id="0" name=""/>
        <dsp:cNvSpPr/>
      </dsp:nvSpPr>
      <dsp:spPr>
        <a:xfrm>
          <a:off x="3786079" y="1845185"/>
          <a:ext cx="1350615" cy="12282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Tokenize using</a:t>
          </a:r>
          <a:br>
            <a:rPr lang="en-IN" sz="1800" kern="1200" dirty="0"/>
          </a:br>
          <a:r>
            <a:rPr lang="en-IN" sz="1800" kern="1200" dirty="0"/>
            <a:t>XLM-</a:t>
          </a:r>
          <a:r>
            <a:rPr lang="en-IN" sz="1800" kern="1200" dirty="0" err="1"/>
            <a:t>RoBERTa</a:t>
          </a:r>
          <a:endParaRPr lang="en-IN" sz="1800" kern="1200" dirty="0"/>
        </a:p>
      </dsp:txBody>
      <dsp:txXfrm>
        <a:off x="3822052" y="1881158"/>
        <a:ext cx="1278669" cy="1156269"/>
      </dsp:txXfrm>
    </dsp:sp>
    <dsp:sp modelId="{04EF0815-4923-4EDE-8117-8361F6B0F648}">
      <dsp:nvSpPr>
        <dsp:cNvPr id="0" name=""/>
        <dsp:cNvSpPr/>
      </dsp:nvSpPr>
      <dsp:spPr>
        <a:xfrm>
          <a:off x="5271756" y="2291817"/>
          <a:ext cx="286330" cy="334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271756" y="2358807"/>
        <a:ext cx="200431" cy="200972"/>
      </dsp:txXfrm>
    </dsp:sp>
    <dsp:sp modelId="{E057F9A4-FC56-4207-A966-90496DCEFDAE}">
      <dsp:nvSpPr>
        <dsp:cNvPr id="0" name=""/>
        <dsp:cNvSpPr/>
      </dsp:nvSpPr>
      <dsp:spPr>
        <a:xfrm>
          <a:off x="5676940" y="1845185"/>
          <a:ext cx="1350615" cy="12282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Fine-tune</a:t>
          </a:r>
          <a:br>
            <a:rPr lang="en-IN" sz="1800" kern="1200" dirty="0"/>
          </a:br>
          <a:r>
            <a:rPr lang="en-IN" sz="1800" kern="1200" dirty="0"/>
            <a:t>XLM-</a:t>
          </a:r>
          <a:r>
            <a:rPr lang="en-IN" sz="1800" kern="1200" dirty="0" err="1"/>
            <a:t>RoBERTa</a:t>
          </a:r>
          <a:endParaRPr lang="en-IN" sz="1800" kern="1200" dirty="0"/>
        </a:p>
      </dsp:txBody>
      <dsp:txXfrm>
        <a:off x="5712913" y="1881158"/>
        <a:ext cx="1278669" cy="1156269"/>
      </dsp:txXfrm>
    </dsp:sp>
    <dsp:sp modelId="{D8326548-6CDB-4180-A8C2-00102978032F}">
      <dsp:nvSpPr>
        <dsp:cNvPr id="0" name=""/>
        <dsp:cNvSpPr/>
      </dsp:nvSpPr>
      <dsp:spPr>
        <a:xfrm>
          <a:off x="7162617" y="2291817"/>
          <a:ext cx="286330" cy="334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7162617" y="2358807"/>
        <a:ext cx="200431" cy="200972"/>
      </dsp:txXfrm>
    </dsp:sp>
    <dsp:sp modelId="{A16AC56C-8913-4521-8BC2-9B90C4AB705D}">
      <dsp:nvSpPr>
        <dsp:cNvPr id="0" name=""/>
        <dsp:cNvSpPr/>
      </dsp:nvSpPr>
      <dsp:spPr>
        <a:xfrm>
          <a:off x="7567801" y="1845185"/>
          <a:ext cx="1350615" cy="12282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Display category +</a:t>
          </a:r>
          <a:br>
            <a:rPr lang="en-IN" sz="1800" kern="1200"/>
          </a:br>
          <a:r>
            <a:rPr lang="en-IN" sz="1800" kern="1200"/>
            <a:t>confidence score</a:t>
          </a:r>
          <a:endParaRPr lang="en-IN" sz="1800" kern="1200" dirty="0"/>
        </a:p>
      </dsp:txBody>
      <dsp:txXfrm>
        <a:off x="7603774" y="1881158"/>
        <a:ext cx="1278669" cy="11562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IN" sz="2700" dirty="0"/>
              <a:t>AI-Based Multilingual News Categorization System</a:t>
            </a:r>
            <a:endParaRPr lang="en-US" sz="27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6900" y="1441006"/>
            <a:ext cx="8458200" cy="2895600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G. Surya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2420090102</a:t>
            </a: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Ch. Siddhartha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 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2420090015</a:t>
            </a: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Y.V.  Likhith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2420090142</a:t>
            </a: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Name: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K. </a:t>
            </a:r>
            <a:r>
              <a:rPr lang="en-IN" sz="37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Rishiwan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sz="37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Roll: </a:t>
            </a:r>
            <a:r>
              <a:rPr lang="en-US" sz="37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2420030762</a:t>
            </a: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6</a:t>
            </a:r>
          </a:p>
          <a:p>
            <a:pPr>
              <a:lnSpc>
                <a:spcPct val="80000"/>
              </a:lnSpc>
              <a:defRPr/>
            </a:pP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GB" sz="3700" b="1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>
              <a:lnSpc>
                <a:spcPct val="80000"/>
              </a:lnSpc>
              <a:defRPr/>
            </a:pPr>
            <a:endParaRPr lang="en-US" sz="37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KATANGURI SWATHANA</a:t>
            </a: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>
              <a:lnSpc>
                <a:spcPct val="80000"/>
              </a:lnSpc>
              <a:defRPr/>
            </a:pPr>
            <a:endParaRPr lang="en-US" sz="37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1873155" y="5257801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14" y="3969194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50847" y="347472"/>
            <a:ext cx="27855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3043"/>
                </a:solidFill>
                <a:latin typeface="Aptos Display"/>
              </a:defRPr>
            </a:pPr>
            <a:r>
              <a:rPr dirty="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26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1F3043"/>
                </a:solidFill>
                <a:latin typeface="Aptos"/>
              </a:defRPr>
            </a:pPr>
            <a:r>
              <a:rPr dirty="0"/>
              <a:t>Large amount of news is published every day.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1F3043"/>
                </a:solidFill>
                <a:latin typeface="Aptos"/>
              </a:defRPr>
            </a:pPr>
            <a:r>
              <a:rPr dirty="0"/>
              <a:t>News is available in different languages.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1F3043"/>
                </a:solidFill>
                <a:latin typeface="Aptos"/>
              </a:defRPr>
            </a:pPr>
            <a:r>
              <a:rPr dirty="0"/>
              <a:t>Manual classification takes more time.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1F3043"/>
                </a:solidFill>
                <a:latin typeface="Aptos"/>
              </a:defRPr>
            </a:pPr>
            <a:r>
              <a:rPr dirty="0"/>
              <a:t>Our system automatically classifies news articles.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1F3043"/>
                </a:solidFill>
                <a:latin typeface="Aptos"/>
              </a:defRPr>
            </a:pPr>
            <a:r>
              <a:rPr dirty="0"/>
              <a:t>Uses NLP preprocessing and XLM-</a:t>
            </a:r>
            <a:r>
              <a:rPr dirty="0" err="1"/>
              <a:t>RoBERTa</a:t>
            </a:r>
            <a:r>
              <a:rPr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 b="0">
                <a:solidFill>
                  <a:srgbClr val="1F3043"/>
                </a:solidFill>
                <a:latin typeface="Aptos"/>
              </a:defRPr>
            </a:pPr>
            <a:r>
              <a:rPr dirty="0"/>
              <a:t>Gives the predicted category and confidence score.</a:t>
            </a:r>
            <a:r>
              <a:rPr lang="en-IN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ptos"/>
              </a:defRPr>
            </a:pPr>
            <a:r>
              <a:t>AI-Based Multilingual News Categorization System  |  Team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86063" y="347472"/>
            <a:ext cx="33150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3043"/>
                </a:solidFill>
                <a:latin typeface="Aptos Display"/>
              </a:defRPr>
            </a:pPr>
            <a:r>
              <a:rPr dirty="0"/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26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2120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Huge volume of online news.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Different languages and writing styles.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Manual categorization is time-consuming.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Difficult to organize large amounts of content.</a:t>
            </a:r>
          </a:p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029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1F3043"/>
                </a:solidFill>
                <a:latin typeface="Aptos"/>
              </a:defRPr>
            </a:pPr>
            <a:r>
              <a:rPr dirty="0"/>
              <a:t>Build a multilingual news classification system.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1F3043"/>
                </a:solidFill>
                <a:latin typeface="Aptos"/>
              </a:defRPr>
            </a:pPr>
            <a:r>
              <a:rPr dirty="0"/>
              <a:t>Automatically identify the category of an article.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1F3043"/>
                </a:solidFill>
                <a:latin typeface="Aptos"/>
              </a:defRPr>
            </a:pPr>
            <a:r>
              <a:rPr dirty="0"/>
              <a:t>Support news content written in multiple languages.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ptos"/>
              </a:defRPr>
            </a:pPr>
            <a:r>
              <a:t>AI-Based Multilingual News Categorization System  |  Team 6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68AB6C-4CFB-5B9F-708D-E5F0AD37D497}"/>
              </a:ext>
            </a:extLst>
          </p:cNvPr>
          <p:cNvSpPr/>
          <p:nvPr/>
        </p:nvSpPr>
        <p:spPr>
          <a:xfrm>
            <a:off x="822960" y="1177175"/>
            <a:ext cx="2625213" cy="4719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AG NEWS DATASET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2FD7FA2-6E31-77C9-B4BC-76B38B696B32}"/>
              </a:ext>
            </a:extLst>
          </p:cNvPr>
          <p:cNvSpPr/>
          <p:nvPr/>
        </p:nvSpPr>
        <p:spPr>
          <a:xfrm>
            <a:off x="6538451" y="1177175"/>
            <a:ext cx="2497393" cy="4719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56713" y="347472"/>
            <a:ext cx="27737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3043"/>
                </a:solidFill>
                <a:latin typeface="Aptos Display"/>
              </a:defRPr>
            </a:pPr>
            <a:r>
              <a:rPr dirty="0"/>
              <a:t>News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26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46120" cy="960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043"/>
                </a:solidFill>
                <a:latin typeface="Aptos"/>
              </a:defRPr>
            </a:pPr>
            <a:r>
              <a:rPr dirty="0"/>
              <a:t>Politics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246120" cy="960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043"/>
                </a:solidFill>
                <a:latin typeface="Aptos"/>
              </a:defRPr>
            </a:pPr>
            <a:r>
              <a:t>Sports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246120" cy="960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043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3246120" cy="960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043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926080"/>
            <a:ext cx="3246120" cy="960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043"/>
                </a:solidFill>
                <a:latin typeface="Aptos"/>
              </a:defRPr>
            </a:pPr>
            <a:r>
              <a:t>Entertainment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926080"/>
            <a:ext cx="3246120" cy="960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3043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3043"/>
                </a:solidFill>
                <a:latin typeface="Aptos"/>
              </a:defRPr>
            </a:pPr>
            <a:r>
              <a:t>Output: Predicted category + confidence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ptos"/>
              </a:defRPr>
            </a:pPr>
            <a:r>
              <a:t>AI-Based Multilingual News Categorization System  |  Team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63450" y="347472"/>
            <a:ext cx="15602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3043"/>
                </a:solidFill>
                <a:latin typeface="Aptos Display"/>
              </a:defRPr>
            </a:pPr>
            <a:r>
              <a:rPr dirty="0"/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26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21208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More than 120,000 news articles.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Commonly used for news classification.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World, Sports, Business, Science/Technology.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50292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Collection of BBC news articles.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Used for text classification research.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Business, Entertainment, Politics, Sport, Tech.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578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A626C"/>
                </a:solidFill>
                <a:latin typeface="Aptos"/>
              </a:defRPr>
            </a:pPr>
            <a:r>
              <a:t>Training approach: fine-tune XLM-RoBERTa using benchmark news datasets.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ptos"/>
              </a:defRPr>
            </a:pPr>
            <a:r>
              <a:t>AI-Based Multilingual News Categorization System  |  Team 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2712E0-2A52-1B51-23F8-35AA0D33A51D}"/>
              </a:ext>
            </a:extLst>
          </p:cNvPr>
          <p:cNvSpPr/>
          <p:nvPr/>
        </p:nvSpPr>
        <p:spPr>
          <a:xfrm>
            <a:off x="1005840" y="1022555"/>
            <a:ext cx="3241695" cy="5502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AG NEWS DATASET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9ED355-481E-1EF0-9226-6A1F0934A5A5}"/>
              </a:ext>
            </a:extLst>
          </p:cNvPr>
          <p:cNvSpPr/>
          <p:nvPr/>
        </p:nvSpPr>
        <p:spPr>
          <a:xfrm>
            <a:off x="6355080" y="1022555"/>
            <a:ext cx="3378855" cy="5502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BBC NEWS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15810" y="347472"/>
            <a:ext cx="30555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3043"/>
                </a:solidFill>
                <a:latin typeface="Aptos Display"/>
              </a:defRPr>
            </a:pPr>
            <a:r>
              <a:rPr dirty="0"/>
              <a:t>Text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26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234440"/>
            <a:ext cx="502920" cy="50292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44955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3"/>
                </a:solidFill>
                <a:latin typeface="Aptos"/>
              </a:defRPr>
            </a:pPr>
            <a:r>
              <a:rPr dirty="0"/>
              <a:t>Lowercase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44955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26C"/>
                </a:solidFill>
                <a:latin typeface="Aptos"/>
              </a:defRPr>
            </a:pPr>
            <a:r>
              <a:rPr dirty="0"/>
              <a:t>Normalize text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300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3"/>
                </a:solidFill>
                <a:latin typeface="Aptos"/>
              </a:defRPr>
            </a:pPr>
            <a:r>
              <a:rPr dirty="0"/>
              <a:t>Remove URLs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3171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26C"/>
                </a:solidFill>
                <a:latin typeface="Aptos"/>
              </a:defRPr>
            </a:pPr>
            <a:r>
              <a:rPr dirty="0"/>
              <a:t>Eliminate web links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2104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3"/>
                </a:solidFill>
                <a:latin typeface="Aptos"/>
              </a:defRPr>
            </a:pPr>
            <a:r>
              <a:rPr dirty="0"/>
              <a:t>Remove 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8021" y="3221048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26C"/>
                </a:solidFill>
                <a:latin typeface="Aptos"/>
              </a:defRPr>
            </a:pPr>
            <a:r>
              <a:rPr dirty="0"/>
              <a:t>Strip HTML tags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50387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3"/>
                </a:solidFill>
                <a:latin typeface="Aptos"/>
              </a:defRPr>
            </a:pPr>
            <a:r>
              <a:rPr dirty="0"/>
              <a:t>Special Characters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9496" y="4256532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26C"/>
                </a:solidFill>
                <a:latin typeface="Aptos"/>
              </a:defRPr>
            </a:pPr>
            <a:r>
              <a:rPr dirty="0"/>
              <a:t>Clean unwanted symbols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74920"/>
            <a:ext cx="502920" cy="50292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188433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043"/>
                </a:solidFill>
                <a:latin typeface="Aptos"/>
              </a:defRPr>
            </a:pPr>
            <a:r>
              <a:rPr dirty="0"/>
              <a:t>Tokenization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188433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A626C"/>
                </a:solidFill>
                <a:latin typeface="Aptos"/>
              </a:defRPr>
            </a:pPr>
            <a:r>
              <a:rPr dirty="0"/>
              <a:t>XLM-</a:t>
            </a:r>
            <a:r>
              <a:rPr dirty="0" err="1"/>
              <a:t>RoBERTa</a:t>
            </a:r>
            <a:r>
              <a:rPr dirty="0"/>
              <a:t> tokenizer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ptos"/>
              </a:defRPr>
            </a:pPr>
            <a:r>
              <a:t>AI-Based Multilingual News Categorization System  |  Team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DCF72B-FF3B-6B1C-ED06-72B09F48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574" y="160337"/>
            <a:ext cx="8229600" cy="114300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ptos" panose="020B0004020202020204" pitchFamily="34" charset="0"/>
              </a:rPr>
              <a:t>System Workflow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D3DCBCB-5C36-BB48-D451-ABE81B4C8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80541"/>
              </p:ext>
            </p:extLst>
          </p:nvPr>
        </p:nvGraphicFramePr>
        <p:xfrm>
          <a:off x="1902542" y="951271"/>
          <a:ext cx="8922774" cy="4918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09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50316" y="347472"/>
            <a:ext cx="33865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3043"/>
                </a:solidFill>
                <a:latin typeface="Aptos Display"/>
              </a:defRPr>
            </a:pPr>
            <a:r>
              <a:rPr dirty="0"/>
              <a:t>XLM-</a:t>
            </a:r>
            <a:r>
              <a:rPr dirty="0" err="1"/>
              <a:t>RoBERTa</a:t>
            </a:r>
            <a:r>
              <a:rPr dirty="0"/>
              <a:t>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26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58368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Pre-trained multilingual transformer model.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Supports text written in different languages.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Used to understand the news article.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Tokenizes the input text.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Extracts useful text features.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Fine-tuned using the news datasets.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 b="0">
                <a:solidFill>
                  <a:srgbClr val="1F3043"/>
                </a:solidFill>
                <a:latin typeface="Aptos"/>
              </a:defRPr>
            </a:pPr>
            <a:r>
              <a:rPr dirty="0"/>
              <a:t>Produces the final predicted category.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2560320" cy="6400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043"/>
                </a:solidFill>
                <a:latin typeface="Aptos"/>
              </a:defRPr>
            </a:pPr>
            <a:r>
              <a:t>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2075688"/>
            <a:ext cx="457200" cy="365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 sz="2000">
                <a:solidFill>
                  <a:srgbClr val="366092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560320"/>
            <a:ext cx="2560320" cy="6400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043"/>
                </a:solidFill>
                <a:latin typeface="Aptos"/>
              </a:defRPr>
            </a:pPr>
            <a:r>
              <a:t>Tokenizer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3218687"/>
            <a:ext cx="457200" cy="365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 sz="2000">
                <a:solidFill>
                  <a:srgbClr val="36609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03320"/>
            <a:ext cx="2560320" cy="6400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043"/>
                </a:solidFill>
                <a:latin typeface="Aptos"/>
              </a:defRPr>
            </a:pPr>
            <a:r>
              <a:t>XLM-RoBERTa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4361688"/>
            <a:ext cx="457200" cy="365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 sz="2000">
                <a:solidFill>
                  <a:srgbClr val="36609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846320"/>
            <a:ext cx="2560320" cy="6400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043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ptos"/>
              </a:defRPr>
            </a:pPr>
            <a:r>
              <a:t>AI-Based Multilingual News Categorization System  |  Team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E397-4CDB-E2AE-B53F-010CF39A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4" y="274638"/>
            <a:ext cx="8229600" cy="885568"/>
          </a:xfrm>
        </p:spPr>
        <p:txBody>
          <a:bodyPr>
            <a:normAutofit fontScale="90000"/>
          </a:bodyPr>
          <a:lstStyle/>
          <a:p>
            <a:r>
              <a:rPr lang="en-IN" dirty="0"/>
              <a:t>Applications &amp; Benefits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4175C-2A1C-E543-2A3C-DC102AB00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8175" y="1094966"/>
            <a:ext cx="4040188" cy="639762"/>
          </a:xfrm>
        </p:spPr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FC206-6FCF-0BCA-1408-510D0B1C6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08175" y="1821578"/>
            <a:ext cx="4040188" cy="3951288"/>
          </a:xfrm>
        </p:spPr>
        <p:txBody>
          <a:bodyPr/>
          <a:lstStyle/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IN" dirty="0"/>
              <a:t>Reduces manual news classification.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IN" dirty="0"/>
              <a:t>Supports multilingual content.</a:t>
            </a:r>
          </a:p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IN" dirty="0"/>
              <a:t>Provides fast classification.</a:t>
            </a:r>
          </a:p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IN" dirty="0"/>
              <a:t>Gives a confidence score.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DB72F-5ED8-591D-9D25-491E2F504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094966"/>
            <a:ext cx="4041775" cy="639762"/>
          </a:xfrm>
        </p:spPr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8E0D1-488D-B5FD-442C-FED0E7603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821578"/>
            <a:ext cx="4041775" cy="3951288"/>
          </a:xfrm>
        </p:spPr>
        <p:txBody>
          <a:bodyPr/>
          <a:lstStyle/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Digital news platforms.</a:t>
            </a:r>
          </a:p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Content management systems.</a:t>
            </a:r>
          </a:p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News recommendation systems.</a:t>
            </a:r>
          </a:p>
          <a:p>
            <a:pPr>
              <a:spcAft>
                <a:spcPts val="1200"/>
              </a:spcAft>
              <a:defRPr sz="1800" b="0">
                <a:solidFill>
                  <a:srgbClr val="1F3043"/>
                </a:solidFill>
                <a:latin typeface="Aptos"/>
              </a:defRPr>
            </a:pPr>
            <a:r>
              <a:rPr lang="en-US" dirty="0"/>
              <a:t>Automated content organization.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2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3043"/>
                </a:solidFill>
                <a:latin typeface="Aptos Display"/>
              </a:defRPr>
            </a:pPr>
            <a:r>
              <a:rPr dirty="0"/>
              <a:t>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26C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526029"/>
              </p:ext>
            </p:extLst>
          </p:nvPr>
        </p:nvGraphicFramePr>
        <p:xfrm>
          <a:off x="2084439" y="1325880"/>
          <a:ext cx="801968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N" dirty="0"/>
                        <a:t>Name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IN"/>
                        <a:t>Roll No.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/>
                        <a:t>G. Surya</a:t>
                      </a:r>
                      <a:endParaRPr lang="en-IN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/>
                        <a:t>2420090102</a:t>
                      </a:r>
                    </a:p>
                  </a:txBody>
                  <a:tcPr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/>
                        <a:t>Ch. Siddhartha</a:t>
                      </a:r>
                      <a:endParaRPr lang="en-IN" dirty="0"/>
                    </a:p>
                  </a:txBody>
                  <a:tcPr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/>
                        <a:t>2420090015</a:t>
                      </a:r>
                    </a:p>
                  </a:txBody>
                  <a:tcPr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/>
                        <a:t>Y.V. Likhith</a:t>
                      </a:r>
                      <a:endParaRPr lang="en-IN" dirty="0"/>
                    </a:p>
                  </a:txBody>
                  <a:tcPr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/>
                        <a:t>2420090142</a:t>
                      </a:r>
                      <a:endParaRPr lang="en-IN" dirty="0"/>
                    </a:p>
                  </a:txBody>
                  <a:tcPr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/>
                        <a:t>K. Rishiwan</a:t>
                      </a:r>
                    </a:p>
                  </a:txBody>
                  <a:tcPr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1F3043"/>
                          </a:solidFill>
                          <a:latin typeface="Aptos"/>
                        </a:defRPr>
                      </a:pPr>
                      <a:r>
                        <a:rPr lang="en-IN" dirty="0"/>
                        <a:t>2420030762</a:t>
                      </a:r>
                    </a:p>
                  </a:txBody>
                  <a:tcPr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0" y="484632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3043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  <a:latin typeface="Aptos"/>
              </a:defRPr>
            </a:pPr>
            <a:r>
              <a:t>AI-Based Multilingual News Categorization System  |  Team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528</Words>
  <Application>Microsoft Office PowerPoint</Application>
  <PresentationFormat>Widescreen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Times New Roman</vt:lpstr>
      <vt:lpstr>Office Theme</vt:lpstr>
      <vt:lpstr> A Project Review Meeting    on AI-Based Multilingual News Categorization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Workflow</vt:lpstr>
      <vt:lpstr>PowerPoint Presentation</vt:lpstr>
      <vt:lpstr>Applications &amp; Benefits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 Siddhartha</dc:creator>
  <cp:keywords/>
  <dc:description>generated using python-pptx</dc:description>
  <cp:lastModifiedBy>Ch Siddhartha</cp:lastModifiedBy>
  <cp:revision>3</cp:revision>
  <dcterms:created xsi:type="dcterms:W3CDTF">2013-01-27T09:14:16Z</dcterms:created>
  <dcterms:modified xsi:type="dcterms:W3CDTF">2026-08-14T08:32:15Z</dcterms:modified>
  <cp:category/>
</cp:coreProperties>
</file>